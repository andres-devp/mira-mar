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4040"/>
          </a:solidFill>
          <a:ln w="12700">
            <a:solidFill>
              <a:srgbClr val="E84040"/>
            </a:solidFill>
            <a:prstDash val="solid"/>
          </a:ln>
        </p:spPr>
      </p:sp>
      <p:sp>
        <p:nvSpPr>
          <p:cNvPr id="3" name="Shape 1"/>
          <p:cNvSpPr/>
          <p:nvPr/>
        </p:nvSpPr>
        <p:spPr>
          <a:xfrm>
            <a:off x="0" y="0"/>
            <a:ext cx="54864" cy="5143500"/>
          </a:xfrm>
          <a:prstGeom prst="rect">
            <a:avLst/>
          </a:prstGeom>
          <a:solidFill>
            <a:srgbClr val="F59E0B"/>
          </a:solidFill>
          <a:ln w="12700">
            <a:solidFill>
              <a:srgbClr val="F59E0B"/>
            </a:solidFill>
            <a:prstDash val="solid"/>
          </a:ln>
        </p:spPr>
      </p:sp>
      <p:sp>
        <p:nvSpPr>
          <p:cNvPr id="4" name="Text 2"/>
          <p:cNvSpPr/>
          <p:nvPr/>
        </p:nvSpPr>
        <p:spPr>
          <a:xfrm>
            <a:off x="365760" y="640080"/>
            <a:ext cx="8412480" cy="822960"/>
          </a:xfrm>
          <a:prstGeom prst="rect">
            <a:avLst/>
          </a:prstGeom>
          <a:noFill/>
          <a:ln/>
        </p:spPr>
        <p:txBody>
          <a:bodyPr wrap="square" rtlCol="0" anchor="ctr"/>
          <a:lstStyle/>
          <a:p>
            <a:pPr algn="l" indent="0" marL="0">
              <a:buNone/>
            </a:pPr>
            <a:r>
              <a:rPr lang="en-US" sz="3800" b="1" spc="300" kern="0" dirty="0">
                <a:solidFill>
                  <a:srgbClr val="FFFFFF"/>
                </a:solidFill>
                <a:latin typeface="Arial Black" pitchFamily="34" charset="0"/>
                <a:ea typeface="Arial Black" pitchFamily="34" charset="-122"/>
                <a:cs typeface="Arial Black" pitchFamily="34" charset="-120"/>
              </a:rPr>
              <a:t>PROCESADORES DE SEÑAL</a:t>
            </a:r>
            <a:endParaRPr lang="en-US" sz="3800" dirty="0"/>
          </a:p>
        </p:txBody>
      </p:sp>
      <p:sp>
        <p:nvSpPr>
          <p:cNvPr id="5" name="Text 3"/>
          <p:cNvSpPr/>
          <p:nvPr/>
        </p:nvSpPr>
        <p:spPr>
          <a:xfrm>
            <a:off x="365760" y="1508760"/>
            <a:ext cx="8412480" cy="457200"/>
          </a:xfrm>
          <a:prstGeom prst="rect">
            <a:avLst/>
          </a:prstGeom>
          <a:noFill/>
          <a:ln/>
        </p:spPr>
        <p:txBody>
          <a:bodyPr wrap="square" rtlCol="0" anchor="ctr"/>
          <a:lstStyle/>
          <a:p>
            <a:pPr algn="l" indent="0" marL="0">
              <a:buNone/>
            </a:pPr>
            <a:r>
              <a:rPr lang="en-US" sz="1800" i="1" dirty="0">
                <a:solidFill>
                  <a:srgbClr val="F59E0B"/>
                </a:solidFill>
                <a:latin typeface="Calibri" pitchFamily="34" charset="0"/>
                <a:ea typeface="Calibri" pitchFamily="34" charset="-122"/>
                <a:cs typeface="Calibri" pitchFamily="34" charset="-120"/>
              </a:rPr>
              <a:t>Compresión, Ganancia y Color Sonoro</a:t>
            </a:r>
            <a:endParaRPr lang="en-US" sz="1800" dirty="0"/>
          </a:p>
        </p:txBody>
      </p:sp>
      <p:sp>
        <p:nvSpPr>
          <p:cNvPr id="6" name="Shape 4"/>
          <p:cNvSpPr/>
          <p:nvPr/>
        </p:nvSpPr>
        <p:spPr>
          <a:xfrm>
            <a:off x="365760" y="2286000"/>
            <a:ext cx="2651760" cy="1371600"/>
          </a:xfrm>
          <a:prstGeom prst="rect">
            <a:avLst/>
          </a:prstGeom>
          <a:solidFill>
            <a:srgbClr val="E84040">
              <a:alpha val="85000"/>
            </a:srgbClr>
          </a:solidFill>
          <a:ln w="19050">
            <a:solidFill>
              <a:srgbClr val="E84040"/>
            </a:solidFill>
            <a:prstDash val="solid"/>
          </a:ln>
          <a:effectLst>
            <a:outerShdw sx="100000" sy="100000" kx="0" ky="0" algn="bl" rotWithShape="0" blurRad="101600" dist="38100" dir="8100000">
              <a:srgbClr val="000000">
                <a:alpha val="30000"/>
              </a:srgbClr>
            </a:outerShdw>
          </a:effectLst>
        </p:spPr>
      </p:sp>
      <p:sp>
        <p:nvSpPr>
          <p:cNvPr id="7" name="Text 5"/>
          <p:cNvSpPr/>
          <p:nvPr/>
        </p:nvSpPr>
        <p:spPr>
          <a:xfrm>
            <a:off x="365760" y="2423160"/>
            <a:ext cx="2651760" cy="45720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DISTRESSOR</a:t>
            </a:r>
            <a:endParaRPr lang="en-US" sz="1400" dirty="0"/>
          </a:p>
        </p:txBody>
      </p:sp>
      <p:sp>
        <p:nvSpPr>
          <p:cNvPr id="8" name="Text 6"/>
          <p:cNvSpPr/>
          <p:nvPr/>
        </p:nvSpPr>
        <p:spPr>
          <a:xfrm>
            <a:off x="365760" y="2880360"/>
            <a:ext cx="2651760" cy="365760"/>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Empirical Labs</a:t>
            </a:r>
            <a:endParaRPr lang="en-US" sz="1100" dirty="0"/>
          </a:p>
        </p:txBody>
      </p:sp>
      <p:sp>
        <p:nvSpPr>
          <p:cNvPr id="9" name="Shape 7"/>
          <p:cNvSpPr/>
          <p:nvPr/>
        </p:nvSpPr>
        <p:spPr>
          <a:xfrm>
            <a:off x="3291840" y="2286000"/>
            <a:ext cx="2651760" cy="1371600"/>
          </a:xfrm>
          <a:prstGeom prst="rect">
            <a:avLst/>
          </a:prstGeom>
          <a:solidFill>
            <a:srgbClr val="2DD4BF">
              <a:alpha val="85000"/>
            </a:srgbClr>
          </a:solidFill>
          <a:ln w="19050">
            <a:solidFill>
              <a:srgbClr val="2DD4BF"/>
            </a:solidFill>
            <a:prstDash val="solid"/>
          </a:ln>
          <a:effectLst>
            <a:outerShdw sx="100000" sy="100000" kx="0" ky="0" algn="bl" rotWithShape="0" blurRad="101600" dist="38100" dir="8100000">
              <a:srgbClr val="000000">
                <a:alpha val="30000"/>
              </a:srgbClr>
            </a:outerShdw>
          </a:effectLst>
        </p:spPr>
      </p:sp>
      <p:sp>
        <p:nvSpPr>
          <p:cNvPr id="10" name="Text 8"/>
          <p:cNvSpPr/>
          <p:nvPr/>
        </p:nvSpPr>
        <p:spPr>
          <a:xfrm>
            <a:off x="3291840" y="2423160"/>
            <a:ext cx="2651760" cy="45720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GRACE m801</a:t>
            </a:r>
            <a:endParaRPr lang="en-US" sz="1400" dirty="0"/>
          </a:p>
        </p:txBody>
      </p:sp>
      <p:sp>
        <p:nvSpPr>
          <p:cNvPr id="11" name="Text 9"/>
          <p:cNvSpPr/>
          <p:nvPr/>
        </p:nvSpPr>
        <p:spPr>
          <a:xfrm>
            <a:off x="3291840" y="2880360"/>
            <a:ext cx="2651760" cy="365760"/>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Preamplificador</a:t>
            </a:r>
            <a:endParaRPr lang="en-US" sz="1100" dirty="0"/>
          </a:p>
        </p:txBody>
      </p:sp>
      <p:sp>
        <p:nvSpPr>
          <p:cNvPr id="12" name="Shape 10"/>
          <p:cNvSpPr/>
          <p:nvPr/>
        </p:nvSpPr>
        <p:spPr>
          <a:xfrm>
            <a:off x="6217920" y="2286000"/>
            <a:ext cx="2651760" cy="1371600"/>
          </a:xfrm>
          <a:prstGeom prst="rect">
            <a:avLst/>
          </a:prstGeom>
          <a:solidFill>
            <a:srgbClr val="F59E0B">
              <a:alpha val="85000"/>
            </a:srgbClr>
          </a:solidFill>
          <a:ln w="19050">
            <a:solidFill>
              <a:srgbClr val="F59E0B"/>
            </a:solidFill>
            <a:prstDash val="solid"/>
          </a:ln>
          <a:effectLst>
            <a:outerShdw sx="100000" sy="100000" kx="0" ky="0" algn="bl" rotWithShape="0" blurRad="101600" dist="38100" dir="8100000">
              <a:srgbClr val="000000">
                <a:alpha val="30000"/>
              </a:srgbClr>
            </a:outerShdw>
          </a:effectLst>
        </p:spPr>
      </p:sp>
      <p:sp>
        <p:nvSpPr>
          <p:cNvPr id="13" name="Text 11"/>
          <p:cNvSpPr/>
          <p:nvPr/>
        </p:nvSpPr>
        <p:spPr>
          <a:xfrm>
            <a:off x="6217920" y="2423160"/>
            <a:ext cx="2651760" cy="45720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NEVE 2264ALBB</a:t>
            </a:r>
            <a:endParaRPr lang="en-US" sz="1400" dirty="0"/>
          </a:p>
        </p:txBody>
      </p:sp>
      <p:sp>
        <p:nvSpPr>
          <p:cNvPr id="14" name="Text 12"/>
          <p:cNvSpPr/>
          <p:nvPr/>
        </p:nvSpPr>
        <p:spPr>
          <a:xfrm>
            <a:off x="6217920" y="2880360"/>
            <a:ext cx="2651760" cy="365760"/>
          </a:xfrm>
          <a:prstGeom prst="rect">
            <a:avLst/>
          </a:prstGeom>
          <a:noFill/>
          <a:ln/>
        </p:spPr>
        <p:txBody>
          <a:bodyPr wrap="square"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Compresor Clásico</a:t>
            </a:r>
            <a:endParaRPr lang="en-US" sz="1100" dirty="0"/>
          </a:p>
        </p:txBody>
      </p:sp>
      <p:sp>
        <p:nvSpPr>
          <p:cNvPr id="15" name="Shape 13"/>
          <p:cNvSpPr/>
          <p:nvPr/>
        </p:nvSpPr>
        <p:spPr>
          <a:xfrm>
            <a:off x="365760" y="4023360"/>
            <a:ext cx="8412480" cy="54864"/>
          </a:xfrm>
          <a:prstGeom prst="rect">
            <a:avLst/>
          </a:prstGeom>
          <a:solidFill>
            <a:srgbClr val="9CA3AF"/>
          </a:solidFill>
          <a:ln w="12700">
            <a:solidFill>
              <a:srgbClr val="9CA3AF"/>
            </a:solidFill>
            <a:prstDash val="solid"/>
          </a:ln>
        </p:spPr>
      </p:sp>
      <p:sp>
        <p:nvSpPr>
          <p:cNvPr id="16" name="Text 14"/>
          <p:cNvSpPr/>
          <p:nvPr/>
        </p:nvSpPr>
        <p:spPr>
          <a:xfrm>
            <a:off x="365760" y="4114800"/>
            <a:ext cx="8412480" cy="36576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Ingeniería de Audio Profesional · Procesamiento de Dinámica y Color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800" b="1" spc="400" kern="0" dirty="0">
                <a:solidFill>
                  <a:srgbClr val="FFFFFF"/>
                </a:solidFill>
                <a:latin typeface="Arial Black" pitchFamily="34" charset="0"/>
                <a:ea typeface="Arial Black" pitchFamily="34" charset="-122"/>
                <a:cs typeface="Arial Black" pitchFamily="34" charset="-120"/>
              </a:rPr>
              <a:t>CONTENIDO</a:t>
            </a:r>
            <a:endParaRPr lang="en-US" sz="2800" dirty="0"/>
          </a:p>
        </p:txBody>
      </p:sp>
      <p:sp>
        <p:nvSpPr>
          <p:cNvPr id="3" name="Shape 1"/>
          <p:cNvSpPr/>
          <p:nvPr/>
        </p:nvSpPr>
        <p:spPr>
          <a:xfrm>
            <a:off x="457200" y="1097280"/>
            <a:ext cx="8229600" cy="749808"/>
          </a:xfrm>
          <a:prstGeom prst="rect">
            <a:avLst/>
          </a:prstGeom>
          <a:solidFill>
            <a:srgbClr val="1F2937"/>
          </a:solidFill>
          <a:ln w="19050">
            <a:solidFill>
              <a:srgbClr val="E84040"/>
            </a:solidFill>
            <a:prstDash val="solid"/>
          </a:ln>
          <a:effectLst>
            <a:outerShdw sx="100000" sy="100000" kx="0" ky="0" algn="bl" rotWithShape="0" blurRad="101600" dist="38100" dir="8100000">
              <a:srgbClr val="000000">
                <a:alpha val="30000"/>
              </a:srgbClr>
            </a:outerShdw>
          </a:effectLst>
        </p:spPr>
      </p:sp>
      <p:sp>
        <p:nvSpPr>
          <p:cNvPr id="4" name="Shape 2"/>
          <p:cNvSpPr/>
          <p:nvPr/>
        </p:nvSpPr>
        <p:spPr>
          <a:xfrm>
            <a:off x="457200" y="1097280"/>
            <a:ext cx="640080" cy="749808"/>
          </a:xfrm>
          <a:prstGeom prst="rect">
            <a:avLst/>
          </a:prstGeom>
          <a:solidFill>
            <a:srgbClr val="E84040"/>
          </a:solidFill>
          <a:ln w="12700">
            <a:solidFill>
              <a:srgbClr val="E84040"/>
            </a:solidFill>
            <a:prstDash val="solid"/>
          </a:ln>
        </p:spPr>
      </p:sp>
      <p:sp>
        <p:nvSpPr>
          <p:cNvPr id="5" name="Text 3"/>
          <p:cNvSpPr/>
          <p:nvPr/>
        </p:nvSpPr>
        <p:spPr>
          <a:xfrm>
            <a:off x="457200" y="1225296"/>
            <a:ext cx="640080" cy="4572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01</a:t>
            </a:r>
            <a:endParaRPr lang="en-US" sz="2000" dirty="0"/>
          </a:p>
        </p:txBody>
      </p:sp>
      <p:sp>
        <p:nvSpPr>
          <p:cNvPr id="6" name="Text 4"/>
          <p:cNvSpPr/>
          <p:nvPr/>
        </p:nvSpPr>
        <p:spPr>
          <a:xfrm>
            <a:off x="1188720" y="1170432"/>
            <a:ext cx="64008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Distressor (Empirical Labs EL8)</a:t>
            </a:r>
            <a:endParaRPr lang="en-US" sz="1400" dirty="0"/>
          </a:p>
        </p:txBody>
      </p:sp>
      <p:sp>
        <p:nvSpPr>
          <p:cNvPr id="7" name="Text 5"/>
          <p:cNvSpPr/>
          <p:nvPr/>
        </p:nvSpPr>
        <p:spPr>
          <a:xfrm>
            <a:off x="1188720" y="1481328"/>
            <a:ext cx="6400800" cy="274320"/>
          </a:xfrm>
          <a:prstGeom prst="rect">
            <a:avLst/>
          </a:prstGeom>
          <a:noFill/>
          <a:ln/>
        </p:spPr>
        <p:txBody>
          <a:bodyPr wrap="square" rtlCol="0" anchor="ctr"/>
          <a:lstStyle/>
          <a:p>
            <a:pPr indent="0" marL="0">
              <a:buNone/>
            </a:pPr>
            <a:r>
              <a:rPr lang="en-US" sz="1100" i="1" dirty="0">
                <a:solidFill>
                  <a:srgbClr val="9CA3AF"/>
                </a:solidFill>
                <a:latin typeface="Calibri" pitchFamily="34" charset="0"/>
                <a:ea typeface="Calibri" pitchFamily="34" charset="-122"/>
                <a:cs typeface="Calibri" pitchFamily="34" charset="-120"/>
              </a:rPr>
              <a:t>Compresor multiestilo con personalidad analógica</a:t>
            </a:r>
            <a:endParaRPr lang="en-US" sz="1100" dirty="0"/>
          </a:p>
        </p:txBody>
      </p:sp>
      <p:sp>
        <p:nvSpPr>
          <p:cNvPr id="8" name="Shape 6"/>
          <p:cNvSpPr/>
          <p:nvPr/>
        </p:nvSpPr>
        <p:spPr>
          <a:xfrm>
            <a:off x="457200" y="1993392"/>
            <a:ext cx="8229600" cy="749808"/>
          </a:xfrm>
          <a:prstGeom prst="rect">
            <a:avLst/>
          </a:prstGeom>
          <a:solidFill>
            <a:srgbClr val="1F2937"/>
          </a:solidFill>
          <a:ln w="19050">
            <a:solidFill>
              <a:srgbClr val="2DD4BF"/>
            </a:solidFill>
            <a:prstDash val="solid"/>
          </a:ln>
          <a:effectLst>
            <a:outerShdw sx="100000" sy="100000" kx="0" ky="0" algn="bl" rotWithShape="0" blurRad="101600" dist="38100" dir="8100000">
              <a:srgbClr val="000000">
                <a:alpha val="30000"/>
              </a:srgbClr>
            </a:outerShdw>
          </a:effectLst>
        </p:spPr>
      </p:sp>
      <p:sp>
        <p:nvSpPr>
          <p:cNvPr id="9" name="Shape 7"/>
          <p:cNvSpPr/>
          <p:nvPr/>
        </p:nvSpPr>
        <p:spPr>
          <a:xfrm>
            <a:off x="457200" y="1993392"/>
            <a:ext cx="640080" cy="749808"/>
          </a:xfrm>
          <a:prstGeom prst="rect">
            <a:avLst/>
          </a:prstGeom>
          <a:solidFill>
            <a:srgbClr val="2DD4BF"/>
          </a:solidFill>
          <a:ln w="12700">
            <a:solidFill>
              <a:srgbClr val="2DD4BF"/>
            </a:solidFill>
            <a:prstDash val="solid"/>
          </a:ln>
        </p:spPr>
      </p:sp>
      <p:sp>
        <p:nvSpPr>
          <p:cNvPr id="10" name="Text 8"/>
          <p:cNvSpPr/>
          <p:nvPr/>
        </p:nvSpPr>
        <p:spPr>
          <a:xfrm>
            <a:off x="457200" y="2121408"/>
            <a:ext cx="640080" cy="4572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02</a:t>
            </a:r>
            <a:endParaRPr lang="en-US" sz="2000" dirty="0"/>
          </a:p>
        </p:txBody>
      </p:sp>
      <p:sp>
        <p:nvSpPr>
          <p:cNvPr id="11" name="Text 9"/>
          <p:cNvSpPr/>
          <p:nvPr/>
        </p:nvSpPr>
        <p:spPr>
          <a:xfrm>
            <a:off x="1188720" y="2066544"/>
            <a:ext cx="64008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Grace m801</a:t>
            </a:r>
            <a:endParaRPr lang="en-US" sz="1400" dirty="0"/>
          </a:p>
        </p:txBody>
      </p:sp>
      <p:sp>
        <p:nvSpPr>
          <p:cNvPr id="12" name="Text 10"/>
          <p:cNvSpPr/>
          <p:nvPr/>
        </p:nvSpPr>
        <p:spPr>
          <a:xfrm>
            <a:off x="1188720" y="2377440"/>
            <a:ext cx="6400800" cy="274320"/>
          </a:xfrm>
          <a:prstGeom prst="rect">
            <a:avLst/>
          </a:prstGeom>
          <a:noFill/>
          <a:ln/>
        </p:spPr>
        <p:txBody>
          <a:bodyPr wrap="square" rtlCol="0" anchor="ctr"/>
          <a:lstStyle/>
          <a:p>
            <a:pPr indent="0" marL="0">
              <a:buNone/>
            </a:pPr>
            <a:r>
              <a:rPr lang="en-US" sz="1100" i="1" dirty="0">
                <a:solidFill>
                  <a:srgbClr val="9CA3AF"/>
                </a:solidFill>
                <a:latin typeface="Calibri" pitchFamily="34" charset="0"/>
                <a:ea typeface="Calibri" pitchFamily="34" charset="-122"/>
                <a:cs typeface="Calibri" pitchFamily="34" charset="-120"/>
              </a:rPr>
              <a:t>Preamplificador de micrófono de referencia, 8 canales</a:t>
            </a:r>
            <a:endParaRPr lang="en-US" sz="1100" dirty="0"/>
          </a:p>
        </p:txBody>
      </p:sp>
      <p:sp>
        <p:nvSpPr>
          <p:cNvPr id="13" name="Shape 11"/>
          <p:cNvSpPr/>
          <p:nvPr/>
        </p:nvSpPr>
        <p:spPr>
          <a:xfrm>
            <a:off x="457200" y="2889504"/>
            <a:ext cx="8229600" cy="749808"/>
          </a:xfrm>
          <a:prstGeom prst="rect">
            <a:avLst/>
          </a:prstGeom>
          <a:solidFill>
            <a:srgbClr val="1F2937"/>
          </a:solidFill>
          <a:ln w="19050">
            <a:solidFill>
              <a:srgbClr val="F59E0B"/>
            </a:solidFill>
            <a:prstDash val="solid"/>
          </a:ln>
          <a:effectLst>
            <a:outerShdw sx="100000" sy="100000" kx="0" ky="0" algn="bl" rotWithShape="0" blurRad="101600" dist="38100" dir="8100000">
              <a:srgbClr val="000000">
                <a:alpha val="30000"/>
              </a:srgbClr>
            </a:outerShdw>
          </a:effectLst>
        </p:spPr>
      </p:sp>
      <p:sp>
        <p:nvSpPr>
          <p:cNvPr id="14" name="Shape 12"/>
          <p:cNvSpPr/>
          <p:nvPr/>
        </p:nvSpPr>
        <p:spPr>
          <a:xfrm>
            <a:off x="457200" y="2889504"/>
            <a:ext cx="640080" cy="749808"/>
          </a:xfrm>
          <a:prstGeom prst="rect">
            <a:avLst/>
          </a:prstGeom>
          <a:solidFill>
            <a:srgbClr val="F59E0B"/>
          </a:solidFill>
          <a:ln w="12700">
            <a:solidFill>
              <a:srgbClr val="F59E0B"/>
            </a:solidFill>
            <a:prstDash val="solid"/>
          </a:ln>
        </p:spPr>
      </p:sp>
      <p:sp>
        <p:nvSpPr>
          <p:cNvPr id="15" name="Text 13"/>
          <p:cNvSpPr/>
          <p:nvPr/>
        </p:nvSpPr>
        <p:spPr>
          <a:xfrm>
            <a:off x="457200" y="3017520"/>
            <a:ext cx="640080" cy="4572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03</a:t>
            </a:r>
            <a:endParaRPr lang="en-US" sz="2000" dirty="0"/>
          </a:p>
        </p:txBody>
      </p:sp>
      <p:sp>
        <p:nvSpPr>
          <p:cNvPr id="16" name="Text 14"/>
          <p:cNvSpPr/>
          <p:nvPr/>
        </p:nvSpPr>
        <p:spPr>
          <a:xfrm>
            <a:off x="1188720" y="2962656"/>
            <a:ext cx="64008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Neve 2264ALBB</a:t>
            </a:r>
            <a:endParaRPr lang="en-US" sz="1400" dirty="0"/>
          </a:p>
        </p:txBody>
      </p:sp>
      <p:sp>
        <p:nvSpPr>
          <p:cNvPr id="17" name="Text 15"/>
          <p:cNvSpPr/>
          <p:nvPr/>
        </p:nvSpPr>
        <p:spPr>
          <a:xfrm>
            <a:off x="1188720" y="3273552"/>
            <a:ext cx="6400800" cy="274320"/>
          </a:xfrm>
          <a:prstGeom prst="rect">
            <a:avLst/>
          </a:prstGeom>
          <a:noFill/>
          <a:ln/>
        </p:spPr>
        <p:txBody>
          <a:bodyPr wrap="square" rtlCol="0" anchor="ctr"/>
          <a:lstStyle/>
          <a:p>
            <a:pPr indent="0" marL="0">
              <a:buNone/>
            </a:pPr>
            <a:r>
              <a:rPr lang="en-US" sz="1100" i="1" dirty="0">
                <a:solidFill>
                  <a:srgbClr val="9CA3AF"/>
                </a:solidFill>
                <a:latin typeface="Calibri" pitchFamily="34" charset="0"/>
                <a:ea typeface="Calibri" pitchFamily="34" charset="-122"/>
                <a:cs typeface="Calibri" pitchFamily="34" charset="-120"/>
              </a:rPr>
              <a:t>Compresor/limitador clásico de consola con color vintage</a:t>
            </a:r>
            <a:endParaRPr lang="en-US" sz="1100" dirty="0"/>
          </a:p>
        </p:txBody>
      </p:sp>
      <p:sp>
        <p:nvSpPr>
          <p:cNvPr id="18" name="Shape 16"/>
          <p:cNvSpPr/>
          <p:nvPr/>
        </p:nvSpPr>
        <p:spPr>
          <a:xfrm>
            <a:off x="457200" y="3785616"/>
            <a:ext cx="8229600" cy="749808"/>
          </a:xfrm>
          <a:prstGeom prst="rect">
            <a:avLst/>
          </a:prstGeom>
          <a:solidFill>
            <a:srgbClr val="1F2937"/>
          </a:solidFill>
          <a:ln w="19050">
            <a:solidFill>
              <a:srgbClr val="14B8A6"/>
            </a:solidFill>
            <a:prstDash val="solid"/>
          </a:ln>
          <a:effectLst>
            <a:outerShdw sx="100000" sy="100000" kx="0" ky="0" algn="bl" rotWithShape="0" blurRad="101600" dist="38100" dir="8100000">
              <a:srgbClr val="000000">
                <a:alpha val="30000"/>
              </a:srgbClr>
            </a:outerShdw>
          </a:effectLst>
        </p:spPr>
      </p:sp>
      <p:sp>
        <p:nvSpPr>
          <p:cNvPr id="19" name="Shape 17"/>
          <p:cNvSpPr/>
          <p:nvPr/>
        </p:nvSpPr>
        <p:spPr>
          <a:xfrm>
            <a:off x="457200" y="3785616"/>
            <a:ext cx="640080" cy="749808"/>
          </a:xfrm>
          <a:prstGeom prst="rect">
            <a:avLst/>
          </a:prstGeom>
          <a:solidFill>
            <a:srgbClr val="14B8A6"/>
          </a:solidFill>
          <a:ln w="12700">
            <a:solidFill>
              <a:srgbClr val="14B8A6"/>
            </a:solidFill>
            <a:prstDash val="solid"/>
          </a:ln>
        </p:spPr>
      </p:sp>
      <p:sp>
        <p:nvSpPr>
          <p:cNvPr id="20" name="Text 18"/>
          <p:cNvSpPr/>
          <p:nvPr/>
        </p:nvSpPr>
        <p:spPr>
          <a:xfrm>
            <a:off x="457200" y="3913632"/>
            <a:ext cx="640080" cy="45720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04</a:t>
            </a:r>
            <a:endParaRPr lang="en-US" sz="2000" dirty="0"/>
          </a:p>
        </p:txBody>
      </p:sp>
      <p:sp>
        <p:nvSpPr>
          <p:cNvPr id="21" name="Text 19"/>
          <p:cNvSpPr/>
          <p:nvPr/>
        </p:nvSpPr>
        <p:spPr>
          <a:xfrm>
            <a:off x="1188720" y="3858768"/>
            <a:ext cx="64008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Comparativa Final</a:t>
            </a:r>
            <a:endParaRPr lang="en-US" sz="1400" dirty="0"/>
          </a:p>
        </p:txBody>
      </p:sp>
      <p:sp>
        <p:nvSpPr>
          <p:cNvPr id="22" name="Text 20"/>
          <p:cNvSpPr/>
          <p:nvPr/>
        </p:nvSpPr>
        <p:spPr>
          <a:xfrm>
            <a:off x="1188720" y="4169664"/>
            <a:ext cx="6400800" cy="274320"/>
          </a:xfrm>
          <a:prstGeom prst="rect">
            <a:avLst/>
          </a:prstGeom>
          <a:noFill/>
          <a:ln/>
        </p:spPr>
        <p:txBody>
          <a:bodyPr wrap="square" rtlCol="0" anchor="ctr"/>
          <a:lstStyle/>
          <a:p>
            <a:pPr indent="0" marL="0">
              <a:buNone/>
            </a:pPr>
            <a:r>
              <a:rPr lang="en-US" sz="1100" i="1" dirty="0">
                <a:solidFill>
                  <a:srgbClr val="9CA3AF"/>
                </a:solidFill>
                <a:latin typeface="Calibri" pitchFamily="34" charset="0"/>
                <a:ea typeface="Calibri" pitchFamily="34" charset="-122"/>
                <a:cs typeface="Calibri" pitchFamily="34" charset="-120"/>
              </a:rPr>
              <a:t>Diferencias clave, usos y elección según aplicación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84040"/>
          </a:solidFill>
          <a:ln w="12700">
            <a:solidFill>
              <a:srgbClr val="E84040"/>
            </a:solidFill>
            <a:prstDash val="solid"/>
          </a:ln>
        </p:spPr>
      </p:sp>
      <p:sp>
        <p:nvSpPr>
          <p:cNvPr id="3" name="Text 1"/>
          <p:cNvSpPr/>
          <p:nvPr/>
        </p:nvSpPr>
        <p:spPr>
          <a:xfrm>
            <a:off x="274320" y="73152"/>
            <a:ext cx="8229600" cy="365760"/>
          </a:xfrm>
          <a:prstGeom prst="rect">
            <a:avLst/>
          </a:prstGeom>
          <a:noFill/>
          <a:ln/>
        </p:spPr>
        <p:txBody>
          <a:bodyPr wrap="square"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01  ·  DISTRESSOR — Empirical Labs EL8</a:t>
            </a:r>
            <a:endParaRPr lang="en-US" sz="1600" dirty="0"/>
          </a:p>
        </p:txBody>
      </p:sp>
      <p:sp>
        <p:nvSpPr>
          <p:cNvPr id="4" name="Text 2"/>
          <p:cNvSpPr/>
          <p:nvPr/>
        </p:nvSpPr>
        <p:spPr>
          <a:xfrm>
            <a:off x="365760" y="685800"/>
            <a:ext cx="8412480" cy="411480"/>
          </a:xfrm>
          <a:prstGeom prst="rect">
            <a:avLst/>
          </a:prstGeom>
          <a:noFill/>
          <a:ln/>
        </p:spPr>
        <p:txBody>
          <a:bodyPr wrap="square" rtlCol="0" anchor="ctr"/>
          <a:lstStyle/>
          <a:p>
            <a:pPr indent="0" marL="0">
              <a:buNone/>
            </a:pPr>
            <a:r>
              <a:rPr lang="en-US" sz="2000" b="1" dirty="0">
                <a:solidFill>
                  <a:srgbClr val="E84040"/>
                </a:solidFill>
                <a:latin typeface="Arial Black" pitchFamily="34" charset="0"/>
                <a:ea typeface="Arial Black" pitchFamily="34" charset="-122"/>
                <a:cs typeface="Arial Black" pitchFamily="34" charset="-120"/>
              </a:rPr>
              <a:t>¿Qué es el Distressor?</a:t>
            </a:r>
            <a:endParaRPr lang="en-US" sz="2000" dirty="0"/>
          </a:p>
        </p:txBody>
      </p:sp>
      <p:sp>
        <p:nvSpPr>
          <p:cNvPr id="5" name="Text 3"/>
          <p:cNvSpPr/>
          <p:nvPr/>
        </p:nvSpPr>
        <p:spPr>
          <a:xfrm>
            <a:off x="365760" y="1097280"/>
            <a:ext cx="8412480" cy="822960"/>
          </a:xfrm>
          <a:prstGeom prst="rect">
            <a:avLst/>
          </a:prstGeom>
          <a:noFill/>
          <a:ln/>
        </p:spPr>
        <p:txBody>
          <a:bodyPr wrap="square" rtlCol="0" anchor="ctr"/>
          <a:lstStyle/>
          <a:p>
            <a:pPr algn="just" indent="0" marL="0">
              <a:buNone/>
            </a:pPr>
            <a:r>
              <a:rPr lang="en-US" sz="1250" dirty="0">
                <a:solidFill>
                  <a:srgbClr val="E5E7EB"/>
                </a:solidFill>
                <a:latin typeface="Calibri" pitchFamily="34" charset="0"/>
                <a:ea typeface="Calibri" pitchFamily="34" charset="-122"/>
                <a:cs typeface="Calibri" pitchFamily="34" charset="-120"/>
              </a:rPr>
              <a:t>El Distressor es un compresor analógico de hardware diseñado por Dave Derr (Empirical Labs) en los años 90. Es uno de los compresores más versátiles de la industria: puede emular el sonido de compresores clásicos como el VCA, el Opto y el feedback, además de añadir distorsión controlada para saturación armónica.</a:t>
            </a:r>
            <a:endParaRPr lang="en-US" sz="1250" dirty="0"/>
          </a:p>
        </p:txBody>
      </p:sp>
      <p:sp>
        <p:nvSpPr>
          <p:cNvPr id="6" name="Shape 4"/>
          <p:cNvSpPr/>
          <p:nvPr/>
        </p:nvSpPr>
        <p:spPr>
          <a:xfrm>
            <a:off x="365760" y="2011680"/>
            <a:ext cx="8412480" cy="2194560"/>
          </a:xfrm>
          <a:prstGeom prst="rect">
            <a:avLst/>
          </a:prstGeom>
          <a:solidFill>
            <a:srgbClr val="1C2B3A"/>
          </a:solidFill>
          <a:ln w="12700">
            <a:solidFill>
              <a:srgbClr val="E84040"/>
            </a:solidFill>
            <a:prstDash val="solid"/>
          </a:ln>
          <a:effectLst>
            <a:outerShdw sx="100000" sy="100000" kx="0" ky="0" algn="bl" rotWithShape="0" blurRad="101600" dist="38100" dir="8100000">
              <a:srgbClr val="000000">
                <a:alpha val="30000"/>
              </a:srgbClr>
            </a:outerShdw>
          </a:effectLst>
        </p:spPr>
      </p:sp>
      <p:sp>
        <p:nvSpPr>
          <p:cNvPr id="7" name="Text 5"/>
          <p:cNvSpPr/>
          <p:nvPr/>
        </p:nvSpPr>
        <p:spPr>
          <a:xfrm>
            <a:off x="502920" y="2103120"/>
            <a:ext cx="8046720" cy="347472"/>
          </a:xfrm>
          <a:prstGeom prst="rect">
            <a:avLst/>
          </a:prstGeom>
          <a:noFill/>
          <a:ln/>
        </p:spPr>
        <p:txBody>
          <a:bodyPr wrap="square" rtlCol="0" anchor="ctr"/>
          <a:lstStyle/>
          <a:p>
            <a:pPr indent="0" marL="0">
              <a:buNone/>
            </a:pPr>
            <a:r>
              <a:rPr lang="en-US" sz="1300" b="1" dirty="0">
                <a:solidFill>
                  <a:srgbClr val="E84040"/>
                </a:solidFill>
                <a:latin typeface="Calibri" pitchFamily="34" charset="0"/>
                <a:ea typeface="Calibri" pitchFamily="34" charset="-122"/>
                <a:cs typeface="Calibri" pitchFamily="34" charset="-120"/>
              </a:rPr>
              <a:t>Especificaciones Clave</a:t>
            </a:r>
            <a:endParaRPr lang="en-US" sz="1300" dirty="0"/>
          </a:p>
        </p:txBody>
      </p:sp>
      <p:sp>
        <p:nvSpPr>
          <p:cNvPr id="8" name="Shape 6"/>
          <p:cNvSpPr/>
          <p:nvPr/>
        </p:nvSpPr>
        <p:spPr>
          <a:xfrm>
            <a:off x="502920" y="2487168"/>
            <a:ext cx="2560320" cy="274320"/>
          </a:xfrm>
          <a:prstGeom prst="rect">
            <a:avLst/>
          </a:prstGeom>
          <a:solidFill>
            <a:srgbClr val="1F2937"/>
          </a:solidFill>
          <a:ln w="12700">
            <a:solidFill>
              <a:srgbClr val="1F2937"/>
            </a:solidFill>
            <a:prstDash val="solid"/>
          </a:ln>
        </p:spPr>
      </p:sp>
      <p:sp>
        <p:nvSpPr>
          <p:cNvPr id="9" name="Text 7"/>
          <p:cNvSpPr/>
          <p:nvPr/>
        </p:nvSpPr>
        <p:spPr>
          <a:xfrm>
            <a:off x="502920" y="2487168"/>
            <a:ext cx="2560320" cy="274320"/>
          </a:xfrm>
          <a:prstGeom prst="rect">
            <a:avLst/>
          </a:prstGeom>
          <a:noFill/>
          <a:ln/>
        </p:spPr>
        <p:txBody>
          <a:bodyPr wrap="square" lIns="63500" tIns="63500" rIns="63500" bIns="63500" rtlCol="0" anchor="ctr"/>
          <a:lstStyle/>
          <a:p>
            <a:pPr indent="0" marL="0">
              <a:buNone/>
            </a:pPr>
            <a:r>
              <a:rPr lang="en-US" sz="1100" b="1" dirty="0">
                <a:solidFill>
                  <a:srgbClr val="E84040"/>
                </a:solidFill>
                <a:latin typeface="Calibri" pitchFamily="34" charset="0"/>
                <a:ea typeface="Calibri" pitchFamily="34" charset="-122"/>
                <a:cs typeface="Calibri" pitchFamily="34" charset="-120"/>
              </a:rPr>
              <a:t>Tipo de detección</a:t>
            </a:r>
            <a:endParaRPr lang="en-US" sz="1100" dirty="0"/>
          </a:p>
        </p:txBody>
      </p:sp>
      <p:sp>
        <p:nvSpPr>
          <p:cNvPr id="10" name="Text 8"/>
          <p:cNvSpPr/>
          <p:nvPr/>
        </p:nvSpPr>
        <p:spPr>
          <a:xfrm>
            <a:off x="3154680" y="2487168"/>
            <a:ext cx="5486400" cy="274320"/>
          </a:xfrm>
          <a:prstGeom prst="rect">
            <a:avLst/>
          </a:prstGeom>
          <a:noFill/>
          <a:ln/>
        </p:spPr>
        <p:txBody>
          <a:bodyPr wrap="square" rtlCol="0" anchor="ctr"/>
          <a:lstStyle/>
          <a:p>
            <a:pPr indent="0" marL="0">
              <a:buNone/>
            </a:pPr>
            <a:r>
              <a:rPr lang="en-US" sz="1100" dirty="0">
                <a:solidFill>
                  <a:srgbClr val="E5E7EB"/>
                </a:solidFill>
                <a:latin typeface="Calibri" pitchFamily="34" charset="0"/>
                <a:ea typeface="Calibri" pitchFamily="34" charset="-122"/>
                <a:cs typeface="Calibri" pitchFamily="34" charset="-120"/>
              </a:rPr>
              <a:t>Feed-forward / Feedback (seleccionable)</a:t>
            </a:r>
            <a:endParaRPr lang="en-US" sz="1100" dirty="0"/>
          </a:p>
        </p:txBody>
      </p:sp>
      <p:sp>
        <p:nvSpPr>
          <p:cNvPr id="11" name="Shape 9"/>
          <p:cNvSpPr/>
          <p:nvPr/>
        </p:nvSpPr>
        <p:spPr>
          <a:xfrm>
            <a:off x="502920" y="2816352"/>
            <a:ext cx="2560320" cy="274320"/>
          </a:xfrm>
          <a:prstGeom prst="rect">
            <a:avLst/>
          </a:prstGeom>
          <a:solidFill>
            <a:srgbClr val="1F2937"/>
          </a:solidFill>
          <a:ln w="12700">
            <a:solidFill>
              <a:srgbClr val="1F2937"/>
            </a:solidFill>
            <a:prstDash val="solid"/>
          </a:ln>
        </p:spPr>
      </p:sp>
      <p:sp>
        <p:nvSpPr>
          <p:cNvPr id="12" name="Text 10"/>
          <p:cNvSpPr/>
          <p:nvPr/>
        </p:nvSpPr>
        <p:spPr>
          <a:xfrm>
            <a:off x="502920" y="2816352"/>
            <a:ext cx="2560320" cy="274320"/>
          </a:xfrm>
          <a:prstGeom prst="rect">
            <a:avLst/>
          </a:prstGeom>
          <a:noFill/>
          <a:ln/>
        </p:spPr>
        <p:txBody>
          <a:bodyPr wrap="square" lIns="63500" tIns="63500" rIns="63500" bIns="63500" rtlCol="0" anchor="ctr"/>
          <a:lstStyle/>
          <a:p>
            <a:pPr indent="0" marL="0">
              <a:buNone/>
            </a:pPr>
            <a:r>
              <a:rPr lang="en-US" sz="1100" b="1" dirty="0">
                <a:solidFill>
                  <a:srgbClr val="E84040"/>
                </a:solidFill>
                <a:latin typeface="Calibri" pitchFamily="34" charset="0"/>
                <a:ea typeface="Calibri" pitchFamily="34" charset="-122"/>
                <a:cs typeface="Calibri" pitchFamily="34" charset="-120"/>
              </a:rPr>
              <a:t>Ratios disponibles</a:t>
            </a:r>
            <a:endParaRPr lang="en-US" sz="1100" dirty="0"/>
          </a:p>
        </p:txBody>
      </p:sp>
      <p:sp>
        <p:nvSpPr>
          <p:cNvPr id="13" name="Text 11"/>
          <p:cNvSpPr/>
          <p:nvPr/>
        </p:nvSpPr>
        <p:spPr>
          <a:xfrm>
            <a:off x="3154680" y="2816352"/>
            <a:ext cx="5486400" cy="274320"/>
          </a:xfrm>
          <a:prstGeom prst="rect">
            <a:avLst/>
          </a:prstGeom>
          <a:noFill/>
          <a:ln/>
        </p:spPr>
        <p:txBody>
          <a:bodyPr wrap="square" rtlCol="0" anchor="ctr"/>
          <a:lstStyle/>
          <a:p>
            <a:pPr indent="0" marL="0">
              <a:buNone/>
            </a:pPr>
            <a:r>
              <a:rPr lang="en-US" sz="1100" dirty="0">
                <a:solidFill>
                  <a:srgbClr val="E5E7EB"/>
                </a:solidFill>
                <a:latin typeface="Calibri" pitchFamily="34" charset="0"/>
                <a:ea typeface="Calibri" pitchFamily="34" charset="-122"/>
                <a:cs typeface="Calibri" pitchFamily="34" charset="-120"/>
              </a:rPr>
              <a:t>1:1 · 2:1 · 4:1 · 8:1 · 10:1 · 20:1 · Nuke (∞:1)</a:t>
            </a:r>
            <a:endParaRPr lang="en-US" sz="1100" dirty="0"/>
          </a:p>
        </p:txBody>
      </p:sp>
      <p:sp>
        <p:nvSpPr>
          <p:cNvPr id="14" name="Shape 12"/>
          <p:cNvSpPr/>
          <p:nvPr/>
        </p:nvSpPr>
        <p:spPr>
          <a:xfrm>
            <a:off x="502920" y="3145536"/>
            <a:ext cx="2560320" cy="274320"/>
          </a:xfrm>
          <a:prstGeom prst="rect">
            <a:avLst/>
          </a:prstGeom>
          <a:solidFill>
            <a:srgbClr val="1F2937"/>
          </a:solidFill>
          <a:ln w="12700">
            <a:solidFill>
              <a:srgbClr val="1F2937"/>
            </a:solidFill>
            <a:prstDash val="solid"/>
          </a:ln>
        </p:spPr>
      </p:sp>
      <p:sp>
        <p:nvSpPr>
          <p:cNvPr id="15" name="Text 13"/>
          <p:cNvSpPr/>
          <p:nvPr/>
        </p:nvSpPr>
        <p:spPr>
          <a:xfrm>
            <a:off x="502920" y="3145536"/>
            <a:ext cx="2560320" cy="274320"/>
          </a:xfrm>
          <a:prstGeom prst="rect">
            <a:avLst/>
          </a:prstGeom>
          <a:noFill/>
          <a:ln/>
        </p:spPr>
        <p:txBody>
          <a:bodyPr wrap="square" lIns="63500" tIns="63500" rIns="63500" bIns="63500" rtlCol="0" anchor="ctr"/>
          <a:lstStyle/>
          <a:p>
            <a:pPr indent="0" marL="0">
              <a:buNone/>
            </a:pPr>
            <a:r>
              <a:rPr lang="en-US" sz="1100" b="1" dirty="0">
                <a:solidFill>
                  <a:srgbClr val="E84040"/>
                </a:solidFill>
                <a:latin typeface="Calibri" pitchFamily="34" charset="0"/>
                <a:ea typeface="Calibri" pitchFamily="34" charset="-122"/>
                <a:cs typeface="Calibri" pitchFamily="34" charset="-120"/>
              </a:rPr>
              <a:t>Controles</a:t>
            </a:r>
            <a:endParaRPr lang="en-US" sz="1100" dirty="0"/>
          </a:p>
        </p:txBody>
      </p:sp>
      <p:sp>
        <p:nvSpPr>
          <p:cNvPr id="16" name="Text 14"/>
          <p:cNvSpPr/>
          <p:nvPr/>
        </p:nvSpPr>
        <p:spPr>
          <a:xfrm>
            <a:off x="3154680" y="3145536"/>
            <a:ext cx="5486400" cy="274320"/>
          </a:xfrm>
          <a:prstGeom prst="rect">
            <a:avLst/>
          </a:prstGeom>
          <a:noFill/>
          <a:ln/>
        </p:spPr>
        <p:txBody>
          <a:bodyPr wrap="square" rtlCol="0" anchor="ctr"/>
          <a:lstStyle/>
          <a:p>
            <a:pPr indent="0" marL="0">
              <a:buNone/>
            </a:pPr>
            <a:r>
              <a:rPr lang="en-US" sz="1100" dirty="0">
                <a:solidFill>
                  <a:srgbClr val="E5E7EB"/>
                </a:solidFill>
                <a:latin typeface="Calibri" pitchFamily="34" charset="0"/>
                <a:ea typeface="Calibri" pitchFamily="34" charset="-122"/>
                <a:cs typeface="Calibri" pitchFamily="34" charset="-120"/>
              </a:rPr>
              <a:t>Input, Output, Attack, Release, Ratio, Distortion</a:t>
            </a:r>
            <a:endParaRPr lang="en-US" sz="1100" dirty="0"/>
          </a:p>
        </p:txBody>
      </p:sp>
      <p:sp>
        <p:nvSpPr>
          <p:cNvPr id="17" name="Shape 15"/>
          <p:cNvSpPr/>
          <p:nvPr/>
        </p:nvSpPr>
        <p:spPr>
          <a:xfrm>
            <a:off x="502920" y="3474720"/>
            <a:ext cx="2560320" cy="274320"/>
          </a:xfrm>
          <a:prstGeom prst="rect">
            <a:avLst/>
          </a:prstGeom>
          <a:solidFill>
            <a:srgbClr val="1F2937"/>
          </a:solidFill>
          <a:ln w="12700">
            <a:solidFill>
              <a:srgbClr val="1F2937"/>
            </a:solidFill>
            <a:prstDash val="solid"/>
          </a:ln>
        </p:spPr>
      </p:sp>
      <p:sp>
        <p:nvSpPr>
          <p:cNvPr id="18" name="Text 16"/>
          <p:cNvSpPr/>
          <p:nvPr/>
        </p:nvSpPr>
        <p:spPr>
          <a:xfrm>
            <a:off x="502920" y="3474720"/>
            <a:ext cx="2560320" cy="274320"/>
          </a:xfrm>
          <a:prstGeom prst="rect">
            <a:avLst/>
          </a:prstGeom>
          <a:noFill/>
          <a:ln/>
        </p:spPr>
        <p:txBody>
          <a:bodyPr wrap="square" lIns="63500" tIns="63500" rIns="63500" bIns="63500" rtlCol="0" anchor="ctr"/>
          <a:lstStyle/>
          <a:p>
            <a:pPr indent="0" marL="0">
              <a:buNone/>
            </a:pPr>
            <a:r>
              <a:rPr lang="en-US" sz="1100" b="1" dirty="0">
                <a:solidFill>
                  <a:srgbClr val="E84040"/>
                </a:solidFill>
                <a:latin typeface="Calibri" pitchFamily="34" charset="0"/>
                <a:ea typeface="Calibri" pitchFamily="34" charset="-122"/>
                <a:cs typeface="Calibri" pitchFamily="34" charset="-120"/>
              </a:rPr>
              <a:t>Distorsión</a:t>
            </a:r>
            <a:endParaRPr lang="en-US" sz="1100" dirty="0"/>
          </a:p>
        </p:txBody>
      </p:sp>
      <p:sp>
        <p:nvSpPr>
          <p:cNvPr id="19" name="Text 17"/>
          <p:cNvSpPr/>
          <p:nvPr/>
        </p:nvSpPr>
        <p:spPr>
          <a:xfrm>
            <a:off x="3154680" y="3474720"/>
            <a:ext cx="5486400" cy="274320"/>
          </a:xfrm>
          <a:prstGeom prst="rect">
            <a:avLst/>
          </a:prstGeom>
          <a:noFill/>
          <a:ln/>
        </p:spPr>
        <p:txBody>
          <a:bodyPr wrap="square" rtlCol="0" anchor="ctr"/>
          <a:lstStyle/>
          <a:p>
            <a:pPr indent="0" marL="0">
              <a:buNone/>
            </a:pPr>
            <a:r>
              <a:rPr lang="en-US" sz="1100" dirty="0">
                <a:solidFill>
                  <a:srgbClr val="E5E7EB"/>
                </a:solidFill>
                <a:latin typeface="Calibri" pitchFamily="34" charset="0"/>
                <a:ea typeface="Calibri" pitchFamily="34" charset="-122"/>
                <a:cs typeface="Calibri" pitchFamily="34" charset="-120"/>
              </a:rPr>
              <a:t>2nd y 3rd harmonic (interruptores selectables)</a:t>
            </a:r>
            <a:endParaRPr lang="en-US" sz="1100" dirty="0"/>
          </a:p>
        </p:txBody>
      </p:sp>
      <p:sp>
        <p:nvSpPr>
          <p:cNvPr id="20" name="Shape 18"/>
          <p:cNvSpPr/>
          <p:nvPr/>
        </p:nvSpPr>
        <p:spPr>
          <a:xfrm>
            <a:off x="502920" y="3803904"/>
            <a:ext cx="2560320" cy="274320"/>
          </a:xfrm>
          <a:prstGeom prst="rect">
            <a:avLst/>
          </a:prstGeom>
          <a:solidFill>
            <a:srgbClr val="1F2937"/>
          </a:solidFill>
          <a:ln w="12700">
            <a:solidFill>
              <a:srgbClr val="1F2937"/>
            </a:solidFill>
            <a:prstDash val="solid"/>
          </a:ln>
        </p:spPr>
      </p:sp>
      <p:sp>
        <p:nvSpPr>
          <p:cNvPr id="21" name="Text 19"/>
          <p:cNvSpPr/>
          <p:nvPr/>
        </p:nvSpPr>
        <p:spPr>
          <a:xfrm>
            <a:off x="502920" y="3803904"/>
            <a:ext cx="2560320" cy="274320"/>
          </a:xfrm>
          <a:prstGeom prst="rect">
            <a:avLst/>
          </a:prstGeom>
          <a:noFill/>
          <a:ln/>
        </p:spPr>
        <p:txBody>
          <a:bodyPr wrap="square" lIns="63500" tIns="63500" rIns="63500" bIns="63500" rtlCol="0" anchor="ctr"/>
          <a:lstStyle/>
          <a:p>
            <a:pPr indent="0" marL="0">
              <a:buNone/>
            </a:pPr>
            <a:r>
              <a:rPr lang="en-US" sz="1100" b="1" dirty="0">
                <a:solidFill>
                  <a:srgbClr val="E84040"/>
                </a:solidFill>
                <a:latin typeface="Calibri" pitchFamily="34" charset="0"/>
                <a:ea typeface="Calibri" pitchFamily="34" charset="-122"/>
                <a:cs typeface="Calibri" pitchFamily="34" charset="-120"/>
              </a:rPr>
              <a:t>Tipo circuito</a:t>
            </a:r>
            <a:endParaRPr lang="en-US" sz="1100" dirty="0"/>
          </a:p>
        </p:txBody>
      </p:sp>
      <p:sp>
        <p:nvSpPr>
          <p:cNvPr id="22" name="Text 20"/>
          <p:cNvSpPr/>
          <p:nvPr/>
        </p:nvSpPr>
        <p:spPr>
          <a:xfrm>
            <a:off x="3154680" y="3803904"/>
            <a:ext cx="5486400" cy="274320"/>
          </a:xfrm>
          <a:prstGeom prst="rect">
            <a:avLst/>
          </a:prstGeom>
          <a:noFill/>
          <a:ln/>
        </p:spPr>
        <p:txBody>
          <a:bodyPr wrap="square" rtlCol="0" anchor="ctr"/>
          <a:lstStyle/>
          <a:p>
            <a:pPr indent="0" marL="0">
              <a:buNone/>
            </a:pPr>
            <a:r>
              <a:rPr lang="en-US" sz="1100" dirty="0">
                <a:solidFill>
                  <a:srgbClr val="E5E7EB"/>
                </a:solidFill>
                <a:latin typeface="Calibri" pitchFamily="34" charset="0"/>
                <a:ea typeface="Calibri" pitchFamily="34" charset="-122"/>
                <a:cs typeface="Calibri" pitchFamily="34" charset="-120"/>
              </a:rPr>
              <a:t>Analógico VCA con topología híbrida</a:t>
            </a:r>
            <a:endParaRPr lang="en-US" sz="1100" dirty="0"/>
          </a:p>
        </p:txBody>
      </p:sp>
      <p:sp>
        <p:nvSpPr>
          <p:cNvPr id="23" name="Text 21"/>
          <p:cNvSpPr/>
          <p:nvPr/>
        </p:nvSpPr>
        <p:spPr>
          <a:xfrm>
            <a:off x="365760" y="4754880"/>
            <a:ext cx="8412480" cy="274320"/>
          </a:xfrm>
          <a:prstGeom prst="rect">
            <a:avLst/>
          </a:prstGeom>
          <a:noFill/>
          <a:ln/>
        </p:spPr>
        <p:txBody>
          <a:bodyPr wrap="square" rtlCol="0" anchor="ctr"/>
          <a:lstStyle/>
          <a:p>
            <a:pPr algn="ctr" indent="0" marL="0">
              <a:buNone/>
            </a:pPr>
            <a:r>
              <a:rPr lang="en-US" sz="1000" i="1" dirty="0">
                <a:solidFill>
                  <a:srgbClr val="9CA3AF"/>
                </a:solidFill>
                <a:latin typeface="Calibri" pitchFamily="34" charset="0"/>
                <a:ea typeface="Calibri" pitchFamily="34" charset="-122"/>
                <a:cs typeface="Calibri" pitchFamily="34" charset="-120"/>
              </a:rPr>
              <a:t>Desarrollado en 1991 · Estándar de la industria en estudios profesionales de todo el mundo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E84040"/>
          </a:solidFill>
          <a:ln w="12700">
            <a:solidFill>
              <a:srgbClr val="E84040"/>
            </a:solidFill>
            <a:prstDash val="solid"/>
          </a:ln>
        </p:spPr>
      </p:sp>
      <p:sp>
        <p:nvSpPr>
          <p:cNvPr id="3" name="Text 1"/>
          <p:cNvSpPr/>
          <p:nvPr/>
        </p:nvSpPr>
        <p:spPr>
          <a:xfrm>
            <a:off x="274320" y="73152"/>
            <a:ext cx="8229600" cy="365760"/>
          </a:xfrm>
          <a:prstGeom prst="rect">
            <a:avLst/>
          </a:prstGeom>
          <a:noFill/>
          <a:ln/>
        </p:spPr>
        <p:txBody>
          <a:bodyPr wrap="square"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01  ·  DISTRESSOR — Funcionamiento y Características</a:t>
            </a:r>
            <a:endParaRPr lang="en-US" sz="1600" dirty="0"/>
          </a:p>
        </p:txBody>
      </p:sp>
      <p:sp>
        <p:nvSpPr>
          <p:cNvPr id="4" name="Shape 2"/>
          <p:cNvSpPr/>
          <p:nvPr/>
        </p:nvSpPr>
        <p:spPr>
          <a:xfrm>
            <a:off x="320040" y="685800"/>
            <a:ext cx="4160520" cy="1280160"/>
          </a:xfrm>
          <a:prstGeom prst="rect">
            <a:avLst/>
          </a:prstGeom>
          <a:solidFill>
            <a:srgbClr val="1C2B3A"/>
          </a:solidFill>
          <a:ln w="12700">
            <a:solidFill>
              <a:srgbClr val="E84040"/>
            </a:solidFill>
            <a:prstDash val="solid"/>
          </a:ln>
          <a:effectLst>
            <a:outerShdw sx="100000" sy="100000" kx="0" ky="0" algn="bl" rotWithShape="0" blurRad="101600" dist="38100" dir="8100000">
              <a:srgbClr val="000000">
                <a:alpha val="30000"/>
              </a:srgbClr>
            </a:outerShdw>
          </a:effectLst>
        </p:spPr>
      </p:sp>
      <p:sp>
        <p:nvSpPr>
          <p:cNvPr id="5" name="Shape 3"/>
          <p:cNvSpPr/>
          <p:nvPr/>
        </p:nvSpPr>
        <p:spPr>
          <a:xfrm>
            <a:off x="320040" y="685800"/>
            <a:ext cx="4160520" cy="347472"/>
          </a:xfrm>
          <a:prstGeom prst="rect">
            <a:avLst/>
          </a:prstGeom>
          <a:solidFill>
            <a:srgbClr val="E84040">
              <a:alpha val="80000"/>
            </a:srgbClr>
          </a:solidFill>
          <a:ln w="12700">
            <a:solidFill>
              <a:srgbClr val="E84040">
                <a:alpha val="80000"/>
              </a:srgbClr>
            </a:solidFill>
            <a:prstDash val="solid"/>
          </a:ln>
        </p:spPr>
      </p:sp>
      <p:sp>
        <p:nvSpPr>
          <p:cNvPr id="6" name="Text 4"/>
          <p:cNvSpPr/>
          <p:nvPr/>
        </p:nvSpPr>
        <p:spPr>
          <a:xfrm>
            <a:off x="411480" y="731520"/>
            <a:ext cx="39319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Modos de Ratio</a:t>
            </a:r>
            <a:endParaRPr lang="en-US" sz="1200" dirty="0"/>
          </a:p>
        </p:txBody>
      </p:sp>
      <p:sp>
        <p:nvSpPr>
          <p:cNvPr id="7" name="Text 5"/>
          <p:cNvSpPr/>
          <p:nvPr/>
        </p:nvSpPr>
        <p:spPr>
          <a:xfrm>
            <a:off x="411480" y="1097280"/>
            <a:ext cx="3931920" cy="777240"/>
          </a:xfrm>
          <a:prstGeom prst="rect">
            <a:avLst/>
          </a:prstGeom>
          <a:noFill/>
          <a:ln/>
        </p:spPr>
        <p:txBody>
          <a:bodyPr wrap="square" rtlCol="0" anchor="ctr"/>
          <a:lstStyle/>
          <a:p>
            <a:pPr algn="just" indent="0" marL="0">
              <a:buNone/>
            </a:pPr>
            <a:r>
              <a:rPr lang="en-US" sz="1100" dirty="0">
                <a:solidFill>
                  <a:srgbClr val="E5E7EB"/>
                </a:solidFill>
                <a:latin typeface="Calibri" pitchFamily="34" charset="0"/>
                <a:ea typeface="Calibri" pitchFamily="34" charset="-122"/>
                <a:cs typeface="Calibri" pitchFamily="34" charset="-120"/>
              </a:rPr>
              <a:t>Los ratios van desde 1:1 (sin compresión) hasta el modo 'Nuke' (∞:1, limitación total). El ratio 10:1 emula el sonido de compresores vintage de cinta.</a:t>
            </a:r>
            <a:endParaRPr lang="en-US" sz="1100" dirty="0"/>
          </a:p>
        </p:txBody>
      </p:sp>
      <p:sp>
        <p:nvSpPr>
          <p:cNvPr id="8" name="Shape 6"/>
          <p:cNvSpPr/>
          <p:nvPr/>
        </p:nvSpPr>
        <p:spPr>
          <a:xfrm>
            <a:off x="320040" y="2103120"/>
            <a:ext cx="4160520" cy="1280160"/>
          </a:xfrm>
          <a:prstGeom prst="rect">
            <a:avLst/>
          </a:prstGeom>
          <a:solidFill>
            <a:srgbClr val="1C2B3A"/>
          </a:solidFill>
          <a:ln w="12700">
            <a:solidFill>
              <a:srgbClr val="E84040"/>
            </a:solidFill>
            <a:prstDash val="solid"/>
          </a:ln>
          <a:effectLst>
            <a:outerShdw sx="100000" sy="100000" kx="0" ky="0" algn="bl" rotWithShape="0" blurRad="101600" dist="38100" dir="8100000">
              <a:srgbClr val="000000">
                <a:alpha val="30000"/>
              </a:srgbClr>
            </a:outerShdw>
          </a:effectLst>
        </p:spPr>
      </p:sp>
      <p:sp>
        <p:nvSpPr>
          <p:cNvPr id="9" name="Shape 7"/>
          <p:cNvSpPr/>
          <p:nvPr/>
        </p:nvSpPr>
        <p:spPr>
          <a:xfrm>
            <a:off x="320040" y="2103120"/>
            <a:ext cx="4160520" cy="347472"/>
          </a:xfrm>
          <a:prstGeom prst="rect">
            <a:avLst/>
          </a:prstGeom>
          <a:solidFill>
            <a:srgbClr val="E84040">
              <a:alpha val="80000"/>
            </a:srgbClr>
          </a:solidFill>
          <a:ln w="12700">
            <a:solidFill>
              <a:srgbClr val="E84040">
                <a:alpha val="80000"/>
              </a:srgbClr>
            </a:solidFill>
            <a:prstDash val="solid"/>
          </a:ln>
        </p:spPr>
      </p:sp>
      <p:sp>
        <p:nvSpPr>
          <p:cNvPr id="10" name="Text 8"/>
          <p:cNvSpPr/>
          <p:nvPr/>
        </p:nvSpPr>
        <p:spPr>
          <a:xfrm>
            <a:off x="411480" y="2148840"/>
            <a:ext cx="39319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Distorsión Armónica</a:t>
            </a:r>
            <a:endParaRPr lang="en-US" sz="1200" dirty="0"/>
          </a:p>
        </p:txBody>
      </p:sp>
      <p:sp>
        <p:nvSpPr>
          <p:cNvPr id="11" name="Text 9"/>
          <p:cNvSpPr/>
          <p:nvPr/>
        </p:nvSpPr>
        <p:spPr>
          <a:xfrm>
            <a:off x="411480" y="2514600"/>
            <a:ext cx="3931920" cy="777240"/>
          </a:xfrm>
          <a:prstGeom prst="rect">
            <a:avLst/>
          </a:prstGeom>
          <a:noFill/>
          <a:ln/>
        </p:spPr>
        <p:txBody>
          <a:bodyPr wrap="square" rtlCol="0" anchor="ctr"/>
          <a:lstStyle/>
          <a:p>
            <a:pPr algn="just" indent="0" marL="0">
              <a:buNone/>
            </a:pPr>
            <a:r>
              <a:rPr lang="en-US" sz="1100" dirty="0">
                <a:solidFill>
                  <a:srgbClr val="E5E7EB"/>
                </a:solidFill>
                <a:latin typeface="Calibri" pitchFamily="34" charset="0"/>
                <a:ea typeface="Calibri" pitchFamily="34" charset="-122"/>
                <a:cs typeface="Calibri" pitchFamily="34" charset="-120"/>
              </a:rPr>
              <a:t>Dos interruptores permiten añadir 2º y 3er armónico, sumando calidez y saturación analógica característica de equipos vintage.</a:t>
            </a:r>
            <a:endParaRPr lang="en-US" sz="1100" dirty="0"/>
          </a:p>
        </p:txBody>
      </p:sp>
      <p:sp>
        <p:nvSpPr>
          <p:cNvPr id="12" name="Shape 10"/>
          <p:cNvSpPr/>
          <p:nvPr/>
        </p:nvSpPr>
        <p:spPr>
          <a:xfrm>
            <a:off x="320040" y="3520440"/>
            <a:ext cx="4160520" cy="1280160"/>
          </a:xfrm>
          <a:prstGeom prst="rect">
            <a:avLst/>
          </a:prstGeom>
          <a:solidFill>
            <a:srgbClr val="1C2B3A"/>
          </a:solidFill>
          <a:ln w="12700">
            <a:solidFill>
              <a:srgbClr val="E84040"/>
            </a:solidFill>
            <a:prstDash val="solid"/>
          </a:ln>
          <a:effectLst>
            <a:outerShdw sx="100000" sy="100000" kx="0" ky="0" algn="bl" rotWithShape="0" blurRad="101600" dist="38100" dir="8100000">
              <a:srgbClr val="000000">
                <a:alpha val="30000"/>
              </a:srgbClr>
            </a:outerShdw>
          </a:effectLst>
        </p:spPr>
      </p:sp>
      <p:sp>
        <p:nvSpPr>
          <p:cNvPr id="13" name="Shape 11"/>
          <p:cNvSpPr/>
          <p:nvPr/>
        </p:nvSpPr>
        <p:spPr>
          <a:xfrm>
            <a:off x="320040" y="3520440"/>
            <a:ext cx="4160520" cy="347472"/>
          </a:xfrm>
          <a:prstGeom prst="rect">
            <a:avLst/>
          </a:prstGeom>
          <a:solidFill>
            <a:srgbClr val="E84040">
              <a:alpha val="80000"/>
            </a:srgbClr>
          </a:solidFill>
          <a:ln w="12700">
            <a:solidFill>
              <a:srgbClr val="E84040">
                <a:alpha val="80000"/>
              </a:srgbClr>
            </a:solidFill>
            <a:prstDash val="solid"/>
          </a:ln>
        </p:spPr>
      </p:sp>
      <p:sp>
        <p:nvSpPr>
          <p:cNvPr id="14" name="Text 12"/>
          <p:cNvSpPr/>
          <p:nvPr/>
        </p:nvSpPr>
        <p:spPr>
          <a:xfrm>
            <a:off x="411480" y="3566160"/>
            <a:ext cx="39319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Modo Opto (Nuke + Dist)</a:t>
            </a:r>
            <a:endParaRPr lang="en-US" sz="1200" dirty="0"/>
          </a:p>
        </p:txBody>
      </p:sp>
      <p:sp>
        <p:nvSpPr>
          <p:cNvPr id="15" name="Text 13"/>
          <p:cNvSpPr/>
          <p:nvPr/>
        </p:nvSpPr>
        <p:spPr>
          <a:xfrm>
            <a:off x="411480" y="3931920"/>
            <a:ext cx="3931920" cy="777240"/>
          </a:xfrm>
          <a:prstGeom prst="rect">
            <a:avLst/>
          </a:prstGeom>
          <a:noFill/>
          <a:ln/>
        </p:spPr>
        <p:txBody>
          <a:bodyPr wrap="square" rtlCol="0" anchor="ctr"/>
          <a:lstStyle/>
          <a:p>
            <a:pPr algn="just" indent="0" marL="0">
              <a:buNone/>
            </a:pPr>
            <a:r>
              <a:rPr lang="en-US" sz="1100" dirty="0">
                <a:solidFill>
                  <a:srgbClr val="E5E7EB"/>
                </a:solidFill>
                <a:latin typeface="Calibri" pitchFamily="34" charset="0"/>
                <a:ea typeface="Calibri" pitchFamily="34" charset="-122"/>
                <a:cs typeface="Calibri" pitchFamily="34" charset="-120"/>
              </a:rPr>
              <a:t>Activando ambos interruptores de distorsión se obtiene un comportamiento tipo Opto con compresión musical y natural.</a:t>
            </a:r>
            <a:endParaRPr lang="en-US" sz="1100" dirty="0"/>
          </a:p>
        </p:txBody>
      </p:sp>
      <p:sp>
        <p:nvSpPr>
          <p:cNvPr id="16" name="Shape 14"/>
          <p:cNvSpPr/>
          <p:nvPr/>
        </p:nvSpPr>
        <p:spPr>
          <a:xfrm>
            <a:off x="4709160" y="685800"/>
            <a:ext cx="4160520" cy="1280160"/>
          </a:xfrm>
          <a:prstGeom prst="rect">
            <a:avLst/>
          </a:prstGeom>
          <a:solidFill>
            <a:srgbClr val="1C2B3A"/>
          </a:solidFill>
          <a:ln w="12700">
            <a:solidFill>
              <a:srgbClr val="E84040"/>
            </a:solidFill>
            <a:prstDash val="solid"/>
          </a:ln>
          <a:effectLst>
            <a:outerShdw sx="100000" sy="100000" kx="0" ky="0" algn="bl" rotWithShape="0" blurRad="101600" dist="38100" dir="8100000">
              <a:srgbClr val="000000">
                <a:alpha val="30000"/>
              </a:srgbClr>
            </a:outerShdw>
          </a:effectLst>
        </p:spPr>
      </p:sp>
      <p:sp>
        <p:nvSpPr>
          <p:cNvPr id="17" name="Shape 15"/>
          <p:cNvSpPr/>
          <p:nvPr/>
        </p:nvSpPr>
        <p:spPr>
          <a:xfrm>
            <a:off x="4709160" y="685800"/>
            <a:ext cx="4160520" cy="347472"/>
          </a:xfrm>
          <a:prstGeom prst="rect">
            <a:avLst/>
          </a:prstGeom>
          <a:solidFill>
            <a:srgbClr val="E84040">
              <a:alpha val="80000"/>
            </a:srgbClr>
          </a:solidFill>
          <a:ln w="12700">
            <a:solidFill>
              <a:srgbClr val="E84040">
                <a:alpha val="80000"/>
              </a:srgbClr>
            </a:solidFill>
            <a:prstDash val="solid"/>
          </a:ln>
        </p:spPr>
      </p:sp>
      <p:sp>
        <p:nvSpPr>
          <p:cNvPr id="18" name="Text 16"/>
          <p:cNvSpPr/>
          <p:nvPr/>
        </p:nvSpPr>
        <p:spPr>
          <a:xfrm>
            <a:off x="4800600" y="731520"/>
            <a:ext cx="39319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Attack &amp; Release</a:t>
            </a:r>
            <a:endParaRPr lang="en-US" sz="1200" dirty="0"/>
          </a:p>
        </p:txBody>
      </p:sp>
      <p:sp>
        <p:nvSpPr>
          <p:cNvPr id="19" name="Text 17"/>
          <p:cNvSpPr/>
          <p:nvPr/>
        </p:nvSpPr>
        <p:spPr>
          <a:xfrm>
            <a:off x="4800600" y="1097280"/>
            <a:ext cx="3931920" cy="777240"/>
          </a:xfrm>
          <a:prstGeom prst="rect">
            <a:avLst/>
          </a:prstGeom>
          <a:noFill/>
          <a:ln/>
        </p:spPr>
        <p:txBody>
          <a:bodyPr wrap="square" rtlCol="0" anchor="ctr"/>
          <a:lstStyle/>
          <a:p>
            <a:pPr algn="just" indent="0" marL="0">
              <a:buNone/>
            </a:pPr>
            <a:r>
              <a:rPr lang="en-US" sz="1100" dirty="0">
                <a:solidFill>
                  <a:srgbClr val="E5E7EB"/>
                </a:solidFill>
                <a:latin typeface="Calibri" pitchFamily="34" charset="0"/>
                <a:ea typeface="Calibri" pitchFamily="34" charset="-122"/>
                <a:cs typeface="Calibri" pitchFamily="34" charset="-120"/>
              </a:rPr>
              <a:t>Controles de ataque y release muy amplios que permiten desde compresión transparente hasta efectos de pumping extremos.</a:t>
            </a:r>
            <a:endParaRPr lang="en-US" sz="1100" dirty="0"/>
          </a:p>
        </p:txBody>
      </p:sp>
      <p:sp>
        <p:nvSpPr>
          <p:cNvPr id="20" name="Shape 18"/>
          <p:cNvSpPr/>
          <p:nvPr/>
        </p:nvSpPr>
        <p:spPr>
          <a:xfrm>
            <a:off x="4709160" y="2103120"/>
            <a:ext cx="4160520" cy="1280160"/>
          </a:xfrm>
          <a:prstGeom prst="rect">
            <a:avLst/>
          </a:prstGeom>
          <a:solidFill>
            <a:srgbClr val="1C2B3A"/>
          </a:solidFill>
          <a:ln w="12700">
            <a:solidFill>
              <a:srgbClr val="E84040"/>
            </a:solidFill>
            <a:prstDash val="solid"/>
          </a:ln>
          <a:effectLst>
            <a:outerShdw sx="100000" sy="100000" kx="0" ky="0" algn="bl" rotWithShape="0" blurRad="101600" dist="38100" dir="8100000">
              <a:srgbClr val="000000">
                <a:alpha val="30000"/>
              </a:srgbClr>
            </a:outerShdw>
          </a:effectLst>
        </p:spPr>
      </p:sp>
      <p:sp>
        <p:nvSpPr>
          <p:cNvPr id="21" name="Shape 19"/>
          <p:cNvSpPr/>
          <p:nvPr/>
        </p:nvSpPr>
        <p:spPr>
          <a:xfrm>
            <a:off x="4709160" y="2103120"/>
            <a:ext cx="4160520" cy="347472"/>
          </a:xfrm>
          <a:prstGeom prst="rect">
            <a:avLst/>
          </a:prstGeom>
          <a:solidFill>
            <a:srgbClr val="E84040">
              <a:alpha val="80000"/>
            </a:srgbClr>
          </a:solidFill>
          <a:ln w="12700">
            <a:solidFill>
              <a:srgbClr val="E84040">
                <a:alpha val="80000"/>
              </a:srgbClr>
            </a:solidFill>
            <a:prstDash val="solid"/>
          </a:ln>
        </p:spPr>
      </p:sp>
      <p:sp>
        <p:nvSpPr>
          <p:cNvPr id="22" name="Text 20"/>
          <p:cNvSpPr/>
          <p:nvPr/>
        </p:nvSpPr>
        <p:spPr>
          <a:xfrm>
            <a:off x="4800600" y="2148840"/>
            <a:ext cx="39319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Detector (Link)</a:t>
            </a:r>
            <a:endParaRPr lang="en-US" sz="1200" dirty="0"/>
          </a:p>
        </p:txBody>
      </p:sp>
      <p:sp>
        <p:nvSpPr>
          <p:cNvPr id="23" name="Text 21"/>
          <p:cNvSpPr/>
          <p:nvPr/>
        </p:nvSpPr>
        <p:spPr>
          <a:xfrm>
            <a:off x="4800600" y="2514600"/>
            <a:ext cx="3931920" cy="777240"/>
          </a:xfrm>
          <a:prstGeom prst="rect">
            <a:avLst/>
          </a:prstGeom>
          <a:noFill/>
          <a:ln/>
        </p:spPr>
        <p:txBody>
          <a:bodyPr wrap="square" rtlCol="0" anchor="ctr"/>
          <a:lstStyle/>
          <a:p>
            <a:pPr algn="just" indent="0" marL="0">
              <a:buNone/>
            </a:pPr>
            <a:r>
              <a:rPr lang="en-US" sz="1100" dirty="0">
                <a:solidFill>
                  <a:srgbClr val="E5E7EB"/>
                </a:solidFill>
                <a:latin typeface="Calibri" pitchFamily="34" charset="0"/>
                <a:ea typeface="Calibri" pitchFamily="34" charset="-122"/>
                <a:cs typeface="Calibri" pitchFamily="34" charset="-120"/>
              </a:rPr>
              <a:t>Posee enlace estéreo para comprimir pares de canales de forma coherente, ideal para bus estéreo y masterización.</a:t>
            </a:r>
            <a:endParaRPr lang="en-US" sz="1100" dirty="0"/>
          </a:p>
        </p:txBody>
      </p:sp>
      <p:sp>
        <p:nvSpPr>
          <p:cNvPr id="24" name="Shape 22"/>
          <p:cNvSpPr/>
          <p:nvPr/>
        </p:nvSpPr>
        <p:spPr>
          <a:xfrm>
            <a:off x="4709160" y="3520440"/>
            <a:ext cx="4160520" cy="1280160"/>
          </a:xfrm>
          <a:prstGeom prst="rect">
            <a:avLst/>
          </a:prstGeom>
          <a:solidFill>
            <a:srgbClr val="1C2B3A"/>
          </a:solidFill>
          <a:ln w="12700">
            <a:solidFill>
              <a:srgbClr val="E84040"/>
            </a:solidFill>
            <a:prstDash val="solid"/>
          </a:ln>
          <a:effectLst>
            <a:outerShdw sx="100000" sy="100000" kx="0" ky="0" algn="bl" rotWithShape="0" blurRad="101600" dist="38100" dir="8100000">
              <a:srgbClr val="000000">
                <a:alpha val="30000"/>
              </a:srgbClr>
            </a:outerShdw>
          </a:effectLst>
        </p:spPr>
      </p:sp>
      <p:sp>
        <p:nvSpPr>
          <p:cNvPr id="25" name="Shape 23"/>
          <p:cNvSpPr/>
          <p:nvPr/>
        </p:nvSpPr>
        <p:spPr>
          <a:xfrm>
            <a:off x="4709160" y="3520440"/>
            <a:ext cx="4160520" cy="347472"/>
          </a:xfrm>
          <a:prstGeom prst="rect">
            <a:avLst/>
          </a:prstGeom>
          <a:solidFill>
            <a:srgbClr val="E84040">
              <a:alpha val="80000"/>
            </a:srgbClr>
          </a:solidFill>
          <a:ln w="12700">
            <a:solidFill>
              <a:srgbClr val="E84040">
                <a:alpha val="80000"/>
              </a:srgbClr>
            </a:solidFill>
            <a:prstDash val="solid"/>
          </a:ln>
        </p:spPr>
      </p:sp>
      <p:sp>
        <p:nvSpPr>
          <p:cNvPr id="26" name="Text 24"/>
          <p:cNvSpPr/>
          <p:nvPr/>
        </p:nvSpPr>
        <p:spPr>
          <a:xfrm>
            <a:off x="4800600" y="3566160"/>
            <a:ext cx="39319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HP SC (Side Chain)</a:t>
            </a:r>
            <a:endParaRPr lang="en-US" sz="1200" dirty="0"/>
          </a:p>
        </p:txBody>
      </p:sp>
      <p:sp>
        <p:nvSpPr>
          <p:cNvPr id="27" name="Text 25"/>
          <p:cNvSpPr/>
          <p:nvPr/>
        </p:nvSpPr>
        <p:spPr>
          <a:xfrm>
            <a:off x="4800600" y="3931920"/>
            <a:ext cx="3931920" cy="777240"/>
          </a:xfrm>
          <a:prstGeom prst="rect">
            <a:avLst/>
          </a:prstGeom>
          <a:noFill/>
          <a:ln/>
        </p:spPr>
        <p:txBody>
          <a:bodyPr wrap="square" rtlCol="0" anchor="ctr"/>
          <a:lstStyle/>
          <a:p>
            <a:pPr algn="just" indent="0" marL="0">
              <a:buNone/>
            </a:pPr>
            <a:r>
              <a:rPr lang="en-US" sz="1100" dirty="0">
                <a:solidFill>
                  <a:srgbClr val="E5E7EB"/>
                </a:solidFill>
                <a:latin typeface="Calibri" pitchFamily="34" charset="0"/>
                <a:ea typeface="Calibri" pitchFamily="34" charset="-122"/>
                <a:cs typeface="Calibri" pitchFamily="34" charset="-120"/>
              </a:rPr>
              <a:t>Filtro pasa-altos en el side chain para evitar que las frecuencias graves activen excesivamente la compresión, muy útil en mezcla.</a:t>
            </a:r>
            <a:endParaRPr lang="en-US" sz="1100" dirty="0"/>
          </a:p>
        </p:txBody>
      </p:sp>
      <p:sp>
        <p:nvSpPr>
          <p:cNvPr id="28" name="Shape 26"/>
          <p:cNvSpPr/>
          <p:nvPr/>
        </p:nvSpPr>
        <p:spPr>
          <a:xfrm>
            <a:off x="320040" y="4709160"/>
            <a:ext cx="8503920" cy="320040"/>
          </a:xfrm>
          <a:prstGeom prst="rect">
            <a:avLst/>
          </a:prstGeom>
          <a:solidFill>
            <a:srgbClr val="1F2937"/>
          </a:solidFill>
          <a:ln w="12700">
            <a:solidFill>
              <a:srgbClr val="E84040"/>
            </a:solidFill>
            <a:prstDash val="solid"/>
          </a:ln>
        </p:spPr>
      </p:sp>
      <p:sp>
        <p:nvSpPr>
          <p:cNvPr id="29" name="Text 27"/>
          <p:cNvSpPr/>
          <p:nvPr/>
        </p:nvSpPr>
        <p:spPr>
          <a:xfrm>
            <a:off x="411480" y="4754880"/>
            <a:ext cx="8321040" cy="256032"/>
          </a:xfrm>
          <a:prstGeom prst="rect">
            <a:avLst/>
          </a:prstGeom>
          <a:noFill/>
          <a:ln/>
        </p:spPr>
        <p:txBody>
          <a:bodyPr wrap="square" rtlCol="0" anchor="ctr"/>
          <a:lstStyle/>
          <a:p>
            <a:pPr indent="0" marL="0">
              <a:buNone/>
            </a:pPr>
            <a:r>
              <a:rPr lang="en-US" sz="1050" b="1" dirty="0">
                <a:solidFill>
                  <a:srgbClr val="E84040"/>
                </a:solidFill>
                <a:latin typeface="Calibri" pitchFamily="34" charset="0"/>
                <a:ea typeface="Calibri" pitchFamily="34" charset="-122"/>
                <a:cs typeface="Calibri" pitchFamily="34" charset="-120"/>
              </a:rPr>
              <a:t>💡  Uso típico: Voces, batería, guitarras, bus de mezcla. Su versatilidad lo hace imprescindible en cualquier studio.</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DD4BF"/>
          </a:solidFill>
          <a:ln w="12700">
            <a:solidFill>
              <a:srgbClr val="2DD4BF"/>
            </a:solidFill>
            <a:prstDash val="solid"/>
          </a:ln>
        </p:spPr>
      </p:sp>
      <p:sp>
        <p:nvSpPr>
          <p:cNvPr id="3" name="Text 1"/>
          <p:cNvSpPr/>
          <p:nvPr/>
        </p:nvSpPr>
        <p:spPr>
          <a:xfrm>
            <a:off x="274320" y="73152"/>
            <a:ext cx="8229600" cy="365760"/>
          </a:xfrm>
          <a:prstGeom prst="rect">
            <a:avLst/>
          </a:prstGeom>
          <a:noFill/>
          <a:ln/>
        </p:spPr>
        <p:txBody>
          <a:bodyPr wrap="square" rtlCol="0" anchor="ctr"/>
          <a:lstStyle/>
          <a:p>
            <a:pPr indent="0" marL="0">
              <a:buNone/>
            </a:pPr>
            <a:r>
              <a:rPr lang="en-US" sz="1600" b="1" dirty="0">
                <a:solidFill>
                  <a:srgbClr val="0D0D0D"/>
                </a:solidFill>
                <a:latin typeface="Arial Black" pitchFamily="34" charset="0"/>
                <a:ea typeface="Arial Black" pitchFamily="34" charset="-122"/>
                <a:cs typeface="Arial Black" pitchFamily="34" charset="-120"/>
              </a:rPr>
              <a:t>02  ·  GRACE m801 — Preamplificador de Referencia</a:t>
            </a:r>
            <a:endParaRPr lang="en-US" sz="1600" dirty="0"/>
          </a:p>
        </p:txBody>
      </p:sp>
      <p:sp>
        <p:nvSpPr>
          <p:cNvPr id="4" name="Text 2"/>
          <p:cNvSpPr/>
          <p:nvPr/>
        </p:nvSpPr>
        <p:spPr>
          <a:xfrm>
            <a:off x="365760" y="685800"/>
            <a:ext cx="8412480" cy="411480"/>
          </a:xfrm>
          <a:prstGeom prst="rect">
            <a:avLst/>
          </a:prstGeom>
          <a:noFill/>
          <a:ln/>
        </p:spPr>
        <p:txBody>
          <a:bodyPr wrap="square" rtlCol="0" anchor="ctr"/>
          <a:lstStyle/>
          <a:p>
            <a:pPr indent="0" marL="0">
              <a:buNone/>
            </a:pPr>
            <a:r>
              <a:rPr lang="en-US" sz="2000" b="1" dirty="0">
                <a:solidFill>
                  <a:srgbClr val="2DD4BF"/>
                </a:solidFill>
                <a:latin typeface="Arial Black" pitchFamily="34" charset="0"/>
                <a:ea typeface="Arial Black" pitchFamily="34" charset="-122"/>
                <a:cs typeface="Arial Black" pitchFamily="34" charset="-120"/>
              </a:rPr>
              <a:t>¿Qué es el Grace m801?</a:t>
            </a:r>
            <a:endParaRPr lang="en-US" sz="2000" dirty="0"/>
          </a:p>
        </p:txBody>
      </p:sp>
      <p:sp>
        <p:nvSpPr>
          <p:cNvPr id="5" name="Text 3"/>
          <p:cNvSpPr/>
          <p:nvPr/>
        </p:nvSpPr>
        <p:spPr>
          <a:xfrm>
            <a:off x="365760" y="1097280"/>
            <a:ext cx="8412480" cy="914400"/>
          </a:xfrm>
          <a:prstGeom prst="rect">
            <a:avLst/>
          </a:prstGeom>
          <a:noFill/>
          <a:ln/>
        </p:spPr>
        <p:txBody>
          <a:bodyPr wrap="square" rtlCol="0" anchor="ctr"/>
          <a:lstStyle/>
          <a:p>
            <a:pPr algn="just" indent="0" marL="0">
              <a:buNone/>
            </a:pPr>
            <a:r>
              <a:rPr lang="en-US" sz="1250" dirty="0">
                <a:solidFill>
                  <a:srgbClr val="E5E7EB"/>
                </a:solidFill>
                <a:latin typeface="Calibri" pitchFamily="34" charset="0"/>
                <a:ea typeface="Calibri" pitchFamily="34" charset="-122"/>
                <a:cs typeface="Calibri" pitchFamily="34" charset="-120"/>
              </a:rPr>
              <a:t>El Grace Design m801 es un preamplificador de micrófono de 8 canales de alta fidelidad, orientado a grabaciones de máxima calidad. A diferencia del Distressor o el Neve, NO es un compresor: su función es amplificar la señal del micrófono de forma limpia, transparente y con la mínima coloración posible. Es un referente en grabación clásica, acústica, orquestal y de voz.</a:t>
            </a:r>
            <a:endParaRPr lang="en-US" sz="1250" dirty="0"/>
          </a:p>
        </p:txBody>
      </p:sp>
      <p:sp>
        <p:nvSpPr>
          <p:cNvPr id="6" name="Shape 4"/>
          <p:cNvSpPr/>
          <p:nvPr/>
        </p:nvSpPr>
        <p:spPr>
          <a:xfrm>
            <a:off x="365760" y="2148840"/>
            <a:ext cx="8412480" cy="2377440"/>
          </a:xfrm>
          <a:prstGeom prst="rect">
            <a:avLst/>
          </a:prstGeom>
          <a:solidFill>
            <a:srgbClr val="1C2B3A"/>
          </a:solidFill>
          <a:ln w="12700">
            <a:solidFill>
              <a:srgbClr val="2DD4BF"/>
            </a:solidFill>
            <a:prstDash val="solid"/>
          </a:ln>
          <a:effectLst>
            <a:outerShdw sx="100000" sy="100000" kx="0" ky="0" algn="bl" rotWithShape="0" blurRad="101600" dist="38100" dir="8100000">
              <a:srgbClr val="000000">
                <a:alpha val="30000"/>
              </a:srgbClr>
            </a:outerShdw>
          </a:effectLst>
        </p:spPr>
      </p:sp>
      <p:sp>
        <p:nvSpPr>
          <p:cNvPr id="7" name="Text 5"/>
          <p:cNvSpPr/>
          <p:nvPr/>
        </p:nvSpPr>
        <p:spPr>
          <a:xfrm>
            <a:off x="502920" y="2240280"/>
            <a:ext cx="8046720" cy="347472"/>
          </a:xfrm>
          <a:prstGeom prst="rect">
            <a:avLst/>
          </a:prstGeom>
          <a:noFill/>
          <a:ln/>
        </p:spPr>
        <p:txBody>
          <a:bodyPr wrap="square"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Especificaciones Clave</a:t>
            </a:r>
            <a:endParaRPr lang="en-US" sz="1300" dirty="0"/>
          </a:p>
        </p:txBody>
      </p:sp>
      <p:sp>
        <p:nvSpPr>
          <p:cNvPr id="8" name="Shape 6"/>
          <p:cNvSpPr/>
          <p:nvPr/>
        </p:nvSpPr>
        <p:spPr>
          <a:xfrm>
            <a:off x="502920" y="2651760"/>
            <a:ext cx="2743200" cy="256032"/>
          </a:xfrm>
          <a:prstGeom prst="rect">
            <a:avLst/>
          </a:prstGeom>
          <a:solidFill>
            <a:srgbClr val="1F2937"/>
          </a:solidFill>
          <a:ln w="12700">
            <a:solidFill>
              <a:srgbClr val="1F2937"/>
            </a:solidFill>
            <a:prstDash val="solid"/>
          </a:ln>
        </p:spPr>
      </p:sp>
      <p:sp>
        <p:nvSpPr>
          <p:cNvPr id="9" name="Text 7"/>
          <p:cNvSpPr/>
          <p:nvPr/>
        </p:nvSpPr>
        <p:spPr>
          <a:xfrm>
            <a:off x="502920" y="2651760"/>
            <a:ext cx="2743200" cy="256032"/>
          </a:xfrm>
          <a:prstGeom prst="rect">
            <a:avLst/>
          </a:prstGeom>
          <a:noFill/>
          <a:ln/>
        </p:spPr>
        <p:txBody>
          <a:bodyPr wrap="square" lIns="63500" tIns="63500" rIns="63500" bIns="63500" rtlCol="0" anchor="ctr"/>
          <a:lstStyle/>
          <a:p>
            <a:pPr indent="0" marL="0">
              <a:buNone/>
            </a:pPr>
            <a:r>
              <a:rPr lang="en-US" sz="1050" b="1" dirty="0">
                <a:solidFill>
                  <a:srgbClr val="2DD4BF"/>
                </a:solidFill>
                <a:latin typeface="Calibri" pitchFamily="34" charset="0"/>
                <a:ea typeface="Calibri" pitchFamily="34" charset="-122"/>
                <a:cs typeface="Calibri" pitchFamily="34" charset="-120"/>
              </a:rPr>
              <a:t>Tipo de dispositivo</a:t>
            </a:r>
            <a:endParaRPr lang="en-US" sz="1050" dirty="0"/>
          </a:p>
        </p:txBody>
      </p:sp>
      <p:sp>
        <p:nvSpPr>
          <p:cNvPr id="10" name="Text 8"/>
          <p:cNvSpPr/>
          <p:nvPr/>
        </p:nvSpPr>
        <p:spPr>
          <a:xfrm>
            <a:off x="3337560" y="2651760"/>
            <a:ext cx="5303520" cy="256032"/>
          </a:xfrm>
          <a:prstGeom prst="rect">
            <a:avLst/>
          </a:prstGeom>
          <a:noFill/>
          <a:ln/>
        </p:spPr>
        <p:txBody>
          <a:bodyPr wrap="square" rtlCol="0" anchor="ctr"/>
          <a:lstStyle/>
          <a:p>
            <a:pPr indent="0" marL="0">
              <a:buNone/>
            </a:pPr>
            <a:r>
              <a:rPr lang="en-US" sz="1050" dirty="0">
                <a:solidFill>
                  <a:srgbClr val="E5E7EB"/>
                </a:solidFill>
                <a:latin typeface="Calibri" pitchFamily="34" charset="0"/>
                <a:ea typeface="Calibri" pitchFamily="34" charset="-122"/>
                <a:cs typeface="Calibri" pitchFamily="34" charset="-120"/>
              </a:rPr>
              <a:t>Preamplificador de micrófono (8 canales)</a:t>
            </a:r>
            <a:endParaRPr lang="en-US" sz="1050" dirty="0"/>
          </a:p>
        </p:txBody>
      </p:sp>
      <p:sp>
        <p:nvSpPr>
          <p:cNvPr id="11" name="Shape 9"/>
          <p:cNvSpPr/>
          <p:nvPr/>
        </p:nvSpPr>
        <p:spPr>
          <a:xfrm>
            <a:off x="502920" y="2953512"/>
            <a:ext cx="2743200" cy="256032"/>
          </a:xfrm>
          <a:prstGeom prst="rect">
            <a:avLst/>
          </a:prstGeom>
          <a:solidFill>
            <a:srgbClr val="1F2937"/>
          </a:solidFill>
          <a:ln w="12700">
            <a:solidFill>
              <a:srgbClr val="1F2937"/>
            </a:solidFill>
            <a:prstDash val="solid"/>
          </a:ln>
        </p:spPr>
      </p:sp>
      <p:sp>
        <p:nvSpPr>
          <p:cNvPr id="12" name="Text 10"/>
          <p:cNvSpPr/>
          <p:nvPr/>
        </p:nvSpPr>
        <p:spPr>
          <a:xfrm>
            <a:off x="502920" y="2953512"/>
            <a:ext cx="2743200" cy="256032"/>
          </a:xfrm>
          <a:prstGeom prst="rect">
            <a:avLst/>
          </a:prstGeom>
          <a:noFill/>
          <a:ln/>
        </p:spPr>
        <p:txBody>
          <a:bodyPr wrap="square" lIns="63500" tIns="63500" rIns="63500" bIns="63500" rtlCol="0" anchor="ctr"/>
          <a:lstStyle/>
          <a:p>
            <a:pPr indent="0" marL="0">
              <a:buNone/>
            </a:pPr>
            <a:r>
              <a:rPr lang="en-US" sz="1050" b="1" dirty="0">
                <a:solidFill>
                  <a:srgbClr val="2DD4BF"/>
                </a:solidFill>
                <a:latin typeface="Calibri" pitchFamily="34" charset="0"/>
                <a:ea typeface="Calibri" pitchFamily="34" charset="-122"/>
                <a:cs typeface="Calibri" pitchFamily="34" charset="-120"/>
              </a:rPr>
              <a:t>Ganancia</a:t>
            </a:r>
            <a:endParaRPr lang="en-US" sz="1050" dirty="0"/>
          </a:p>
        </p:txBody>
      </p:sp>
      <p:sp>
        <p:nvSpPr>
          <p:cNvPr id="13" name="Text 11"/>
          <p:cNvSpPr/>
          <p:nvPr/>
        </p:nvSpPr>
        <p:spPr>
          <a:xfrm>
            <a:off x="3337560" y="2953512"/>
            <a:ext cx="5303520" cy="256032"/>
          </a:xfrm>
          <a:prstGeom prst="rect">
            <a:avLst/>
          </a:prstGeom>
          <a:noFill/>
          <a:ln/>
        </p:spPr>
        <p:txBody>
          <a:bodyPr wrap="square" rtlCol="0" anchor="ctr"/>
          <a:lstStyle/>
          <a:p>
            <a:pPr indent="0" marL="0">
              <a:buNone/>
            </a:pPr>
            <a:r>
              <a:rPr lang="en-US" sz="1050" dirty="0">
                <a:solidFill>
                  <a:srgbClr val="E5E7EB"/>
                </a:solidFill>
                <a:latin typeface="Calibri" pitchFamily="34" charset="0"/>
                <a:ea typeface="Calibri" pitchFamily="34" charset="-122"/>
                <a:cs typeface="Calibri" pitchFamily="34" charset="-120"/>
              </a:rPr>
              <a:t>0 a +66 dB, ajuste continuo por canal</a:t>
            </a:r>
            <a:endParaRPr lang="en-US" sz="1050" dirty="0"/>
          </a:p>
        </p:txBody>
      </p:sp>
      <p:sp>
        <p:nvSpPr>
          <p:cNvPr id="14" name="Shape 12"/>
          <p:cNvSpPr/>
          <p:nvPr/>
        </p:nvSpPr>
        <p:spPr>
          <a:xfrm>
            <a:off x="502920" y="3255264"/>
            <a:ext cx="2743200" cy="256032"/>
          </a:xfrm>
          <a:prstGeom prst="rect">
            <a:avLst/>
          </a:prstGeom>
          <a:solidFill>
            <a:srgbClr val="1F2937"/>
          </a:solidFill>
          <a:ln w="12700">
            <a:solidFill>
              <a:srgbClr val="1F2937"/>
            </a:solidFill>
            <a:prstDash val="solid"/>
          </a:ln>
        </p:spPr>
      </p:sp>
      <p:sp>
        <p:nvSpPr>
          <p:cNvPr id="15" name="Text 13"/>
          <p:cNvSpPr/>
          <p:nvPr/>
        </p:nvSpPr>
        <p:spPr>
          <a:xfrm>
            <a:off x="502920" y="3255264"/>
            <a:ext cx="2743200" cy="256032"/>
          </a:xfrm>
          <a:prstGeom prst="rect">
            <a:avLst/>
          </a:prstGeom>
          <a:noFill/>
          <a:ln/>
        </p:spPr>
        <p:txBody>
          <a:bodyPr wrap="square" lIns="63500" tIns="63500" rIns="63500" bIns="63500" rtlCol="0" anchor="ctr"/>
          <a:lstStyle/>
          <a:p>
            <a:pPr indent="0" marL="0">
              <a:buNone/>
            </a:pPr>
            <a:r>
              <a:rPr lang="en-US" sz="1050" b="1" dirty="0">
                <a:solidFill>
                  <a:srgbClr val="2DD4BF"/>
                </a:solidFill>
                <a:latin typeface="Calibri" pitchFamily="34" charset="0"/>
                <a:ea typeface="Calibri" pitchFamily="34" charset="-122"/>
                <a:cs typeface="Calibri" pitchFamily="34" charset="-120"/>
              </a:rPr>
              <a:t>Impedancia entrada</a:t>
            </a:r>
            <a:endParaRPr lang="en-US" sz="1050" dirty="0"/>
          </a:p>
        </p:txBody>
      </p:sp>
      <p:sp>
        <p:nvSpPr>
          <p:cNvPr id="16" name="Text 14"/>
          <p:cNvSpPr/>
          <p:nvPr/>
        </p:nvSpPr>
        <p:spPr>
          <a:xfrm>
            <a:off x="3337560" y="3255264"/>
            <a:ext cx="5303520" cy="256032"/>
          </a:xfrm>
          <a:prstGeom prst="rect">
            <a:avLst/>
          </a:prstGeom>
          <a:noFill/>
          <a:ln/>
        </p:spPr>
        <p:txBody>
          <a:bodyPr wrap="square" rtlCol="0" anchor="ctr"/>
          <a:lstStyle/>
          <a:p>
            <a:pPr indent="0" marL="0">
              <a:buNone/>
            </a:pPr>
            <a:r>
              <a:rPr lang="en-US" sz="1050" dirty="0">
                <a:solidFill>
                  <a:srgbClr val="E5E7EB"/>
                </a:solidFill>
                <a:latin typeface="Calibri" pitchFamily="34" charset="0"/>
                <a:ea typeface="Calibri" pitchFamily="34" charset="-122"/>
                <a:cs typeface="Calibri" pitchFamily="34" charset="-120"/>
              </a:rPr>
              <a:t>Seleccionable: LOW (150 Ω) / HIGH (2.4 kΩ)</a:t>
            </a:r>
            <a:endParaRPr lang="en-US" sz="1050" dirty="0"/>
          </a:p>
        </p:txBody>
      </p:sp>
      <p:sp>
        <p:nvSpPr>
          <p:cNvPr id="17" name="Shape 15"/>
          <p:cNvSpPr/>
          <p:nvPr/>
        </p:nvSpPr>
        <p:spPr>
          <a:xfrm>
            <a:off x="502920" y="3557016"/>
            <a:ext cx="2743200" cy="256032"/>
          </a:xfrm>
          <a:prstGeom prst="rect">
            <a:avLst/>
          </a:prstGeom>
          <a:solidFill>
            <a:srgbClr val="1F2937"/>
          </a:solidFill>
          <a:ln w="12700">
            <a:solidFill>
              <a:srgbClr val="1F2937"/>
            </a:solidFill>
            <a:prstDash val="solid"/>
          </a:ln>
        </p:spPr>
      </p:sp>
      <p:sp>
        <p:nvSpPr>
          <p:cNvPr id="18" name="Text 16"/>
          <p:cNvSpPr/>
          <p:nvPr/>
        </p:nvSpPr>
        <p:spPr>
          <a:xfrm>
            <a:off x="502920" y="3557016"/>
            <a:ext cx="2743200" cy="256032"/>
          </a:xfrm>
          <a:prstGeom prst="rect">
            <a:avLst/>
          </a:prstGeom>
          <a:noFill/>
          <a:ln/>
        </p:spPr>
        <p:txBody>
          <a:bodyPr wrap="square" lIns="63500" tIns="63500" rIns="63500" bIns="63500" rtlCol="0" anchor="ctr"/>
          <a:lstStyle/>
          <a:p>
            <a:pPr indent="0" marL="0">
              <a:buNone/>
            </a:pPr>
            <a:r>
              <a:rPr lang="en-US" sz="1050" b="1" dirty="0">
                <a:solidFill>
                  <a:srgbClr val="2DD4BF"/>
                </a:solidFill>
                <a:latin typeface="Calibri" pitchFamily="34" charset="0"/>
                <a:ea typeface="Calibri" pitchFamily="34" charset="-122"/>
                <a:cs typeface="Calibri" pitchFamily="34" charset="-120"/>
              </a:rPr>
              <a:t>Alimentación Phantom</a:t>
            </a:r>
            <a:endParaRPr lang="en-US" sz="1050" dirty="0"/>
          </a:p>
        </p:txBody>
      </p:sp>
      <p:sp>
        <p:nvSpPr>
          <p:cNvPr id="19" name="Text 17"/>
          <p:cNvSpPr/>
          <p:nvPr/>
        </p:nvSpPr>
        <p:spPr>
          <a:xfrm>
            <a:off x="3337560" y="3557016"/>
            <a:ext cx="5303520" cy="256032"/>
          </a:xfrm>
          <a:prstGeom prst="rect">
            <a:avLst/>
          </a:prstGeom>
          <a:noFill/>
          <a:ln/>
        </p:spPr>
        <p:txBody>
          <a:bodyPr wrap="square" rtlCol="0" anchor="ctr"/>
          <a:lstStyle/>
          <a:p>
            <a:pPr indent="0" marL="0">
              <a:buNone/>
            </a:pPr>
            <a:r>
              <a:rPr lang="en-US" sz="1050" dirty="0">
                <a:solidFill>
                  <a:srgbClr val="E5E7EB"/>
                </a:solidFill>
                <a:latin typeface="Calibri" pitchFamily="34" charset="0"/>
                <a:ea typeface="Calibri" pitchFamily="34" charset="-122"/>
                <a:cs typeface="Calibri" pitchFamily="34" charset="-120"/>
              </a:rPr>
              <a:t>+48V por canal, seleccionable</a:t>
            </a:r>
            <a:endParaRPr lang="en-US" sz="1050" dirty="0"/>
          </a:p>
        </p:txBody>
      </p:sp>
      <p:sp>
        <p:nvSpPr>
          <p:cNvPr id="20" name="Shape 18"/>
          <p:cNvSpPr/>
          <p:nvPr/>
        </p:nvSpPr>
        <p:spPr>
          <a:xfrm>
            <a:off x="502920" y="3858768"/>
            <a:ext cx="2743200" cy="256032"/>
          </a:xfrm>
          <a:prstGeom prst="rect">
            <a:avLst/>
          </a:prstGeom>
          <a:solidFill>
            <a:srgbClr val="1F2937"/>
          </a:solidFill>
          <a:ln w="12700">
            <a:solidFill>
              <a:srgbClr val="1F2937"/>
            </a:solidFill>
            <a:prstDash val="solid"/>
          </a:ln>
        </p:spPr>
      </p:sp>
      <p:sp>
        <p:nvSpPr>
          <p:cNvPr id="21" name="Text 19"/>
          <p:cNvSpPr/>
          <p:nvPr/>
        </p:nvSpPr>
        <p:spPr>
          <a:xfrm>
            <a:off x="502920" y="3858768"/>
            <a:ext cx="2743200" cy="256032"/>
          </a:xfrm>
          <a:prstGeom prst="rect">
            <a:avLst/>
          </a:prstGeom>
          <a:noFill/>
          <a:ln/>
        </p:spPr>
        <p:txBody>
          <a:bodyPr wrap="square" lIns="63500" tIns="63500" rIns="63500" bIns="63500" rtlCol="0" anchor="ctr"/>
          <a:lstStyle/>
          <a:p>
            <a:pPr indent="0" marL="0">
              <a:buNone/>
            </a:pPr>
            <a:r>
              <a:rPr lang="en-US" sz="1050" b="1" dirty="0">
                <a:solidFill>
                  <a:srgbClr val="2DD4BF"/>
                </a:solidFill>
                <a:latin typeface="Calibri" pitchFamily="34" charset="0"/>
                <a:ea typeface="Calibri" pitchFamily="34" charset="-122"/>
                <a:cs typeface="Calibri" pitchFamily="34" charset="-120"/>
              </a:rPr>
              <a:t>Conectores</a:t>
            </a:r>
            <a:endParaRPr lang="en-US" sz="1050" dirty="0"/>
          </a:p>
        </p:txBody>
      </p:sp>
      <p:sp>
        <p:nvSpPr>
          <p:cNvPr id="22" name="Text 20"/>
          <p:cNvSpPr/>
          <p:nvPr/>
        </p:nvSpPr>
        <p:spPr>
          <a:xfrm>
            <a:off x="3337560" y="3858768"/>
            <a:ext cx="5303520" cy="256032"/>
          </a:xfrm>
          <a:prstGeom prst="rect">
            <a:avLst/>
          </a:prstGeom>
          <a:noFill/>
          <a:ln/>
        </p:spPr>
        <p:txBody>
          <a:bodyPr wrap="square" rtlCol="0" anchor="ctr"/>
          <a:lstStyle/>
          <a:p>
            <a:pPr indent="0" marL="0">
              <a:buNone/>
            </a:pPr>
            <a:r>
              <a:rPr lang="en-US" sz="1050" dirty="0">
                <a:solidFill>
                  <a:srgbClr val="E5E7EB"/>
                </a:solidFill>
                <a:latin typeface="Calibri" pitchFamily="34" charset="0"/>
                <a:ea typeface="Calibri" pitchFamily="34" charset="-122"/>
                <a:cs typeface="Calibri" pitchFamily="34" charset="-120"/>
              </a:rPr>
              <a:t>XLR balanceado entrada + salida, salida directa TRS</a:t>
            </a:r>
            <a:endParaRPr lang="en-US" sz="1050" dirty="0"/>
          </a:p>
        </p:txBody>
      </p:sp>
      <p:sp>
        <p:nvSpPr>
          <p:cNvPr id="23" name="Shape 21"/>
          <p:cNvSpPr/>
          <p:nvPr/>
        </p:nvSpPr>
        <p:spPr>
          <a:xfrm>
            <a:off x="502920" y="4160520"/>
            <a:ext cx="2743200" cy="256032"/>
          </a:xfrm>
          <a:prstGeom prst="rect">
            <a:avLst/>
          </a:prstGeom>
          <a:solidFill>
            <a:srgbClr val="1F2937"/>
          </a:solidFill>
          <a:ln w="12700">
            <a:solidFill>
              <a:srgbClr val="1F2937"/>
            </a:solidFill>
            <a:prstDash val="solid"/>
          </a:ln>
        </p:spPr>
      </p:sp>
      <p:sp>
        <p:nvSpPr>
          <p:cNvPr id="24" name="Text 22"/>
          <p:cNvSpPr/>
          <p:nvPr/>
        </p:nvSpPr>
        <p:spPr>
          <a:xfrm>
            <a:off x="502920" y="4160520"/>
            <a:ext cx="2743200" cy="256032"/>
          </a:xfrm>
          <a:prstGeom prst="rect">
            <a:avLst/>
          </a:prstGeom>
          <a:noFill/>
          <a:ln/>
        </p:spPr>
        <p:txBody>
          <a:bodyPr wrap="square" lIns="63500" tIns="63500" rIns="63500" bIns="63500" rtlCol="0" anchor="ctr"/>
          <a:lstStyle/>
          <a:p>
            <a:pPr indent="0" marL="0">
              <a:buNone/>
            </a:pPr>
            <a:r>
              <a:rPr lang="en-US" sz="1050" b="1" dirty="0">
                <a:solidFill>
                  <a:srgbClr val="2DD4BF"/>
                </a:solidFill>
                <a:latin typeface="Calibri" pitchFamily="34" charset="0"/>
                <a:ea typeface="Calibri" pitchFamily="34" charset="-122"/>
                <a:cs typeface="Calibri" pitchFamily="34" charset="-120"/>
              </a:rPr>
              <a:t>Ruido (EIN)</a:t>
            </a:r>
            <a:endParaRPr lang="en-US" sz="1050" dirty="0"/>
          </a:p>
        </p:txBody>
      </p:sp>
      <p:sp>
        <p:nvSpPr>
          <p:cNvPr id="25" name="Text 23"/>
          <p:cNvSpPr/>
          <p:nvPr/>
        </p:nvSpPr>
        <p:spPr>
          <a:xfrm>
            <a:off x="3337560" y="4160520"/>
            <a:ext cx="5303520" cy="256032"/>
          </a:xfrm>
          <a:prstGeom prst="rect">
            <a:avLst/>
          </a:prstGeom>
          <a:noFill/>
          <a:ln/>
        </p:spPr>
        <p:txBody>
          <a:bodyPr wrap="square" rtlCol="0" anchor="ctr"/>
          <a:lstStyle/>
          <a:p>
            <a:pPr indent="0" marL="0">
              <a:buNone/>
            </a:pPr>
            <a:r>
              <a:rPr lang="en-US" sz="1050" dirty="0">
                <a:solidFill>
                  <a:srgbClr val="E5E7EB"/>
                </a:solidFill>
                <a:latin typeface="Calibri" pitchFamily="34" charset="0"/>
                <a:ea typeface="Calibri" pitchFamily="34" charset="-122"/>
                <a:cs typeface="Calibri" pitchFamily="34" charset="-120"/>
              </a:rPr>
              <a:t>&lt; –131 dBu (referencia de la industria)</a:t>
            </a:r>
            <a:endParaRPr lang="en-US" sz="1050" dirty="0"/>
          </a:p>
        </p:txBody>
      </p:sp>
      <p:sp>
        <p:nvSpPr>
          <p:cNvPr id="26" name="Text 24"/>
          <p:cNvSpPr/>
          <p:nvPr/>
        </p:nvSpPr>
        <p:spPr>
          <a:xfrm>
            <a:off x="365760" y="4754880"/>
            <a:ext cx="8412480" cy="274320"/>
          </a:xfrm>
          <a:prstGeom prst="rect">
            <a:avLst/>
          </a:prstGeom>
          <a:noFill/>
          <a:ln/>
        </p:spPr>
        <p:txBody>
          <a:bodyPr wrap="square" rtlCol="0" anchor="ctr"/>
          <a:lstStyle/>
          <a:p>
            <a:pPr algn="ctr" indent="0" marL="0">
              <a:buNone/>
            </a:pPr>
            <a:r>
              <a:rPr lang="en-US" sz="1000" i="1" dirty="0">
                <a:solidFill>
                  <a:srgbClr val="9CA3AF"/>
                </a:solidFill>
                <a:latin typeface="Calibri" pitchFamily="34" charset="0"/>
                <a:ea typeface="Calibri" pitchFamily="34" charset="-122"/>
                <a:cs typeface="Calibri" pitchFamily="34" charset="-120"/>
              </a:rPr>
              <a:t>Fabricado en Boulder, Colorado · Considerado uno de los preamplificadores más transparentes del mercado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DD4BF"/>
          </a:solidFill>
          <a:ln w="12700">
            <a:solidFill>
              <a:srgbClr val="2DD4BF"/>
            </a:solidFill>
            <a:prstDash val="solid"/>
          </a:ln>
        </p:spPr>
      </p:sp>
      <p:sp>
        <p:nvSpPr>
          <p:cNvPr id="3" name="Text 1"/>
          <p:cNvSpPr/>
          <p:nvPr/>
        </p:nvSpPr>
        <p:spPr>
          <a:xfrm>
            <a:off x="274320" y="73152"/>
            <a:ext cx="8229600" cy="365760"/>
          </a:xfrm>
          <a:prstGeom prst="rect">
            <a:avLst/>
          </a:prstGeom>
          <a:noFill/>
          <a:ln/>
        </p:spPr>
        <p:txBody>
          <a:bodyPr wrap="square" rtlCol="0" anchor="ctr"/>
          <a:lstStyle/>
          <a:p>
            <a:pPr indent="0" marL="0">
              <a:buNone/>
            </a:pPr>
            <a:r>
              <a:rPr lang="en-US" sz="1600" b="1" dirty="0">
                <a:solidFill>
                  <a:srgbClr val="0D0D0D"/>
                </a:solidFill>
                <a:latin typeface="Arial Black" pitchFamily="34" charset="0"/>
                <a:ea typeface="Arial Black" pitchFamily="34" charset="-122"/>
                <a:cs typeface="Arial Black" pitchFamily="34" charset="-120"/>
              </a:rPr>
              <a:t>02  ·  GRACE m801 — Funcionamiento y Diseño</a:t>
            </a:r>
            <a:endParaRPr lang="en-US" sz="1600" dirty="0"/>
          </a:p>
        </p:txBody>
      </p:sp>
      <p:sp>
        <p:nvSpPr>
          <p:cNvPr id="4" name="Shape 2"/>
          <p:cNvSpPr/>
          <p:nvPr/>
        </p:nvSpPr>
        <p:spPr>
          <a:xfrm>
            <a:off x="320040" y="640080"/>
            <a:ext cx="4160520" cy="1298448"/>
          </a:xfrm>
          <a:prstGeom prst="rect">
            <a:avLst/>
          </a:prstGeom>
          <a:solidFill>
            <a:srgbClr val="1C2B3A"/>
          </a:solidFill>
          <a:ln w="12700">
            <a:solidFill>
              <a:srgbClr val="2DD4BF"/>
            </a:solidFill>
            <a:prstDash val="solid"/>
          </a:ln>
          <a:effectLst>
            <a:outerShdw sx="100000" sy="100000" kx="0" ky="0" algn="bl" rotWithShape="0" blurRad="101600" dist="38100" dir="8100000">
              <a:srgbClr val="000000">
                <a:alpha val="30000"/>
              </a:srgbClr>
            </a:outerShdw>
          </a:effectLst>
        </p:spPr>
      </p:sp>
      <p:sp>
        <p:nvSpPr>
          <p:cNvPr id="5" name="Shape 3"/>
          <p:cNvSpPr/>
          <p:nvPr/>
        </p:nvSpPr>
        <p:spPr>
          <a:xfrm>
            <a:off x="429768" y="749808"/>
            <a:ext cx="384048" cy="384048"/>
          </a:xfrm>
          <a:prstGeom prst="ellipse">
            <a:avLst/>
          </a:prstGeom>
          <a:solidFill>
            <a:srgbClr val="2DD4BF"/>
          </a:solidFill>
          <a:ln w="12700">
            <a:solidFill>
              <a:srgbClr val="2DD4BF"/>
            </a:solidFill>
            <a:prstDash val="solid"/>
          </a:ln>
        </p:spPr>
      </p:sp>
      <p:sp>
        <p:nvSpPr>
          <p:cNvPr id="6" name="Text 4"/>
          <p:cNvSpPr/>
          <p:nvPr/>
        </p:nvSpPr>
        <p:spPr>
          <a:xfrm>
            <a:off x="429768" y="749808"/>
            <a:ext cx="384048" cy="384048"/>
          </a:xfrm>
          <a:prstGeom prst="rect">
            <a:avLst/>
          </a:prstGeom>
          <a:noFill/>
          <a:ln/>
        </p:spPr>
        <p:txBody>
          <a:bodyPr wrap="square" rtlCol="0" anchor="ctr"/>
          <a:lstStyle/>
          <a:p>
            <a:pPr algn="ctr" indent="0" marL="0">
              <a:buNone/>
            </a:pPr>
            <a:r>
              <a:rPr lang="en-US" sz="1300" b="1" dirty="0">
                <a:solidFill>
                  <a:srgbClr val="0D0D0D"/>
                </a:solidFill>
                <a:latin typeface="Arial Black" pitchFamily="34" charset="0"/>
                <a:ea typeface="Arial Black" pitchFamily="34" charset="-122"/>
                <a:cs typeface="Arial Black" pitchFamily="34" charset="-120"/>
              </a:rPr>
              <a:t>A</a:t>
            </a:r>
            <a:endParaRPr lang="en-US" sz="1300" dirty="0"/>
          </a:p>
        </p:txBody>
      </p:sp>
      <p:sp>
        <p:nvSpPr>
          <p:cNvPr id="7" name="Text 5"/>
          <p:cNvSpPr/>
          <p:nvPr/>
        </p:nvSpPr>
        <p:spPr>
          <a:xfrm>
            <a:off x="914400" y="731520"/>
            <a:ext cx="3474720" cy="320040"/>
          </a:xfrm>
          <a:prstGeom prst="rect">
            <a:avLst/>
          </a:prstGeom>
          <a:noFill/>
          <a:ln/>
        </p:spPr>
        <p:txBody>
          <a:bodyPr wrap="square"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Topología Clase A</a:t>
            </a:r>
            <a:endParaRPr lang="en-US" sz="1150" dirty="0"/>
          </a:p>
        </p:txBody>
      </p:sp>
      <p:sp>
        <p:nvSpPr>
          <p:cNvPr id="8" name="Text 6"/>
          <p:cNvSpPr/>
          <p:nvPr/>
        </p:nvSpPr>
        <p:spPr>
          <a:xfrm>
            <a:off x="429768" y="1143000"/>
            <a:ext cx="3931920" cy="749808"/>
          </a:xfrm>
          <a:prstGeom prst="rect">
            <a:avLst/>
          </a:prstGeom>
          <a:noFill/>
          <a:ln/>
        </p:spPr>
        <p:txBody>
          <a:bodyPr wrap="square" rtlCol="0" anchor="ctr"/>
          <a:lstStyle/>
          <a:p>
            <a:pPr algn="just" indent="0" marL="0">
              <a:buNone/>
            </a:pPr>
            <a:r>
              <a:rPr lang="en-US" sz="1000" dirty="0">
                <a:solidFill>
                  <a:srgbClr val="E5E7EB"/>
                </a:solidFill>
                <a:latin typeface="Calibri" pitchFamily="34" charset="0"/>
                <a:ea typeface="Calibri" pitchFamily="34" charset="-122"/>
                <a:cs typeface="Calibri" pitchFamily="34" charset="-120"/>
              </a:rPr>
              <a:t>El m801 utiliza un diseño en Clase A discreto. Esto significa que el transistor de amplificación conduce durante todo el ciclo de la señal, eliminando la distorsión de cruce y garantizando linealidad máxima.</a:t>
            </a:r>
            <a:endParaRPr lang="en-US" sz="1000" dirty="0"/>
          </a:p>
        </p:txBody>
      </p:sp>
      <p:sp>
        <p:nvSpPr>
          <p:cNvPr id="9" name="Shape 7"/>
          <p:cNvSpPr/>
          <p:nvPr/>
        </p:nvSpPr>
        <p:spPr>
          <a:xfrm>
            <a:off x="320040" y="2084832"/>
            <a:ext cx="4160520" cy="1298448"/>
          </a:xfrm>
          <a:prstGeom prst="rect">
            <a:avLst/>
          </a:prstGeom>
          <a:solidFill>
            <a:srgbClr val="1C2B3A"/>
          </a:solidFill>
          <a:ln w="12700">
            <a:solidFill>
              <a:srgbClr val="2DD4BF"/>
            </a:solidFill>
            <a:prstDash val="solid"/>
          </a:ln>
          <a:effectLst>
            <a:outerShdw sx="100000" sy="100000" kx="0" ky="0" algn="bl" rotWithShape="0" blurRad="101600" dist="38100" dir="8100000">
              <a:srgbClr val="000000">
                <a:alpha val="30000"/>
              </a:srgbClr>
            </a:outerShdw>
          </a:effectLst>
        </p:spPr>
      </p:sp>
      <p:sp>
        <p:nvSpPr>
          <p:cNvPr id="10" name="Shape 8"/>
          <p:cNvSpPr/>
          <p:nvPr/>
        </p:nvSpPr>
        <p:spPr>
          <a:xfrm>
            <a:off x="429768" y="2194560"/>
            <a:ext cx="384048" cy="384048"/>
          </a:xfrm>
          <a:prstGeom prst="ellipse">
            <a:avLst/>
          </a:prstGeom>
          <a:solidFill>
            <a:srgbClr val="2DD4BF"/>
          </a:solidFill>
          <a:ln w="12700">
            <a:solidFill>
              <a:srgbClr val="2DD4BF"/>
            </a:solidFill>
            <a:prstDash val="solid"/>
          </a:ln>
        </p:spPr>
      </p:sp>
      <p:sp>
        <p:nvSpPr>
          <p:cNvPr id="11" name="Text 9"/>
          <p:cNvSpPr/>
          <p:nvPr/>
        </p:nvSpPr>
        <p:spPr>
          <a:xfrm>
            <a:off x="429768" y="2194560"/>
            <a:ext cx="384048" cy="384048"/>
          </a:xfrm>
          <a:prstGeom prst="rect">
            <a:avLst/>
          </a:prstGeom>
          <a:noFill/>
          <a:ln/>
        </p:spPr>
        <p:txBody>
          <a:bodyPr wrap="square" rtlCol="0" anchor="ctr"/>
          <a:lstStyle/>
          <a:p>
            <a:pPr algn="ctr" indent="0" marL="0">
              <a:buNone/>
            </a:pPr>
            <a:r>
              <a:rPr lang="en-US" sz="1300" b="1" dirty="0">
                <a:solidFill>
                  <a:srgbClr val="0D0D0D"/>
                </a:solidFill>
                <a:latin typeface="Arial Black" pitchFamily="34" charset="0"/>
                <a:ea typeface="Arial Black" pitchFamily="34" charset="-122"/>
                <a:cs typeface="Arial Black" pitchFamily="34" charset="-120"/>
              </a:rPr>
              <a:t>T</a:t>
            </a:r>
            <a:endParaRPr lang="en-US" sz="1300" dirty="0"/>
          </a:p>
        </p:txBody>
      </p:sp>
      <p:sp>
        <p:nvSpPr>
          <p:cNvPr id="12" name="Text 10"/>
          <p:cNvSpPr/>
          <p:nvPr/>
        </p:nvSpPr>
        <p:spPr>
          <a:xfrm>
            <a:off x="914400" y="2176272"/>
            <a:ext cx="3474720" cy="320040"/>
          </a:xfrm>
          <a:prstGeom prst="rect">
            <a:avLst/>
          </a:prstGeom>
          <a:noFill/>
          <a:ln/>
        </p:spPr>
        <p:txBody>
          <a:bodyPr wrap="square"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Transformerless (sin transformador)</a:t>
            </a:r>
            <a:endParaRPr lang="en-US" sz="1150" dirty="0"/>
          </a:p>
        </p:txBody>
      </p:sp>
      <p:sp>
        <p:nvSpPr>
          <p:cNvPr id="13" name="Text 11"/>
          <p:cNvSpPr/>
          <p:nvPr/>
        </p:nvSpPr>
        <p:spPr>
          <a:xfrm>
            <a:off x="429768" y="2587752"/>
            <a:ext cx="3931920" cy="749808"/>
          </a:xfrm>
          <a:prstGeom prst="rect">
            <a:avLst/>
          </a:prstGeom>
          <a:noFill/>
          <a:ln/>
        </p:spPr>
        <p:txBody>
          <a:bodyPr wrap="square" rtlCol="0" anchor="ctr"/>
          <a:lstStyle/>
          <a:p>
            <a:pPr algn="just" indent="0" marL="0">
              <a:buNone/>
            </a:pPr>
            <a:r>
              <a:rPr lang="en-US" sz="1000" dirty="0">
                <a:solidFill>
                  <a:srgbClr val="E5E7EB"/>
                </a:solidFill>
                <a:latin typeface="Calibri" pitchFamily="34" charset="0"/>
                <a:ea typeface="Calibri" pitchFamily="34" charset="-122"/>
                <a:cs typeface="Calibri" pitchFamily="34" charset="-120"/>
              </a:rPr>
              <a:t>A diferencia de preamplificadores clásicos como el Neve, el m801 NO usa transformador de entrada. Esto elimina la coloración magnética y preserva la señal original con mayor fidelidad.</a:t>
            </a:r>
            <a:endParaRPr lang="en-US" sz="1000" dirty="0"/>
          </a:p>
        </p:txBody>
      </p:sp>
      <p:sp>
        <p:nvSpPr>
          <p:cNvPr id="14" name="Shape 12"/>
          <p:cNvSpPr/>
          <p:nvPr/>
        </p:nvSpPr>
        <p:spPr>
          <a:xfrm>
            <a:off x="320040" y="3529584"/>
            <a:ext cx="4160520" cy="1298448"/>
          </a:xfrm>
          <a:prstGeom prst="rect">
            <a:avLst/>
          </a:prstGeom>
          <a:solidFill>
            <a:srgbClr val="1C2B3A"/>
          </a:solidFill>
          <a:ln w="12700">
            <a:solidFill>
              <a:srgbClr val="2DD4BF"/>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429768" y="3639312"/>
            <a:ext cx="384048" cy="384048"/>
          </a:xfrm>
          <a:prstGeom prst="ellipse">
            <a:avLst/>
          </a:prstGeom>
          <a:solidFill>
            <a:srgbClr val="2DD4BF"/>
          </a:solidFill>
          <a:ln w="12700">
            <a:solidFill>
              <a:srgbClr val="2DD4BF"/>
            </a:solidFill>
            <a:prstDash val="solid"/>
          </a:ln>
        </p:spPr>
      </p:sp>
      <p:sp>
        <p:nvSpPr>
          <p:cNvPr id="16" name="Text 14"/>
          <p:cNvSpPr/>
          <p:nvPr/>
        </p:nvSpPr>
        <p:spPr>
          <a:xfrm>
            <a:off x="429768" y="3639312"/>
            <a:ext cx="384048" cy="384048"/>
          </a:xfrm>
          <a:prstGeom prst="rect">
            <a:avLst/>
          </a:prstGeom>
          <a:noFill/>
          <a:ln/>
        </p:spPr>
        <p:txBody>
          <a:bodyPr wrap="square" rtlCol="0" anchor="ctr"/>
          <a:lstStyle/>
          <a:p>
            <a:pPr algn="ctr" indent="0" marL="0">
              <a:buNone/>
            </a:pPr>
            <a:r>
              <a:rPr lang="en-US" sz="1300" b="1" dirty="0">
                <a:solidFill>
                  <a:srgbClr val="0D0D0D"/>
                </a:solidFill>
                <a:latin typeface="Arial Black" pitchFamily="34" charset="0"/>
                <a:ea typeface="Arial Black" pitchFamily="34" charset="-122"/>
                <a:cs typeface="Arial Black" pitchFamily="34" charset="-120"/>
              </a:rPr>
              <a:t>Z</a:t>
            </a:r>
            <a:endParaRPr lang="en-US" sz="1300" dirty="0"/>
          </a:p>
        </p:txBody>
      </p:sp>
      <p:sp>
        <p:nvSpPr>
          <p:cNvPr id="17" name="Text 15"/>
          <p:cNvSpPr/>
          <p:nvPr/>
        </p:nvSpPr>
        <p:spPr>
          <a:xfrm>
            <a:off x="914400" y="3621024"/>
            <a:ext cx="3474720" cy="320040"/>
          </a:xfrm>
          <a:prstGeom prst="rect">
            <a:avLst/>
          </a:prstGeom>
          <a:noFill/>
          <a:ln/>
        </p:spPr>
        <p:txBody>
          <a:bodyPr wrap="square"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Selección de impedancia</a:t>
            </a:r>
            <a:endParaRPr lang="en-US" sz="1150" dirty="0"/>
          </a:p>
        </p:txBody>
      </p:sp>
      <p:sp>
        <p:nvSpPr>
          <p:cNvPr id="18" name="Text 16"/>
          <p:cNvSpPr/>
          <p:nvPr/>
        </p:nvSpPr>
        <p:spPr>
          <a:xfrm>
            <a:off x="429768" y="4032504"/>
            <a:ext cx="3931920" cy="749808"/>
          </a:xfrm>
          <a:prstGeom prst="rect">
            <a:avLst/>
          </a:prstGeom>
          <a:noFill/>
          <a:ln/>
        </p:spPr>
        <p:txBody>
          <a:bodyPr wrap="square" rtlCol="0" anchor="ctr"/>
          <a:lstStyle/>
          <a:p>
            <a:pPr algn="just" indent="0" marL="0">
              <a:buNone/>
            </a:pPr>
            <a:r>
              <a:rPr lang="en-US" sz="1000" dirty="0">
                <a:solidFill>
                  <a:srgbClr val="E5E7EB"/>
                </a:solidFill>
                <a:latin typeface="Calibri" pitchFamily="34" charset="0"/>
                <a:ea typeface="Calibri" pitchFamily="34" charset="-122"/>
                <a:cs typeface="Calibri" pitchFamily="34" charset="-120"/>
              </a:rPr>
              <a:t>El usuario puede seleccionar entre baja y alta impedancia de entrada. Esto afecta el timbre del micrófono: baja impedancia = más control y frecuencias medias; alta = brillo y apertura.</a:t>
            </a:r>
            <a:endParaRPr lang="en-US" sz="1000" dirty="0"/>
          </a:p>
        </p:txBody>
      </p:sp>
      <p:sp>
        <p:nvSpPr>
          <p:cNvPr id="19" name="Shape 17"/>
          <p:cNvSpPr/>
          <p:nvPr/>
        </p:nvSpPr>
        <p:spPr>
          <a:xfrm>
            <a:off x="4754880" y="640080"/>
            <a:ext cx="4160520" cy="1298448"/>
          </a:xfrm>
          <a:prstGeom prst="rect">
            <a:avLst/>
          </a:prstGeom>
          <a:solidFill>
            <a:srgbClr val="1C2B3A"/>
          </a:solidFill>
          <a:ln w="12700">
            <a:solidFill>
              <a:srgbClr val="2DD4BF"/>
            </a:solidFill>
            <a:prstDash val="solid"/>
          </a:ln>
          <a:effectLst>
            <a:outerShdw sx="100000" sy="100000" kx="0" ky="0" algn="bl" rotWithShape="0" blurRad="101600" dist="38100" dir="8100000">
              <a:srgbClr val="000000">
                <a:alpha val="30000"/>
              </a:srgbClr>
            </a:outerShdw>
          </a:effectLst>
        </p:spPr>
      </p:sp>
      <p:sp>
        <p:nvSpPr>
          <p:cNvPr id="20" name="Shape 18"/>
          <p:cNvSpPr/>
          <p:nvPr/>
        </p:nvSpPr>
        <p:spPr>
          <a:xfrm>
            <a:off x="4864608" y="749808"/>
            <a:ext cx="384048" cy="384048"/>
          </a:xfrm>
          <a:prstGeom prst="ellipse">
            <a:avLst/>
          </a:prstGeom>
          <a:solidFill>
            <a:srgbClr val="2DD4BF"/>
          </a:solidFill>
          <a:ln w="12700">
            <a:solidFill>
              <a:srgbClr val="2DD4BF"/>
            </a:solidFill>
            <a:prstDash val="solid"/>
          </a:ln>
        </p:spPr>
      </p:sp>
      <p:sp>
        <p:nvSpPr>
          <p:cNvPr id="21" name="Text 19"/>
          <p:cNvSpPr/>
          <p:nvPr/>
        </p:nvSpPr>
        <p:spPr>
          <a:xfrm>
            <a:off x="4864608" y="749808"/>
            <a:ext cx="384048" cy="384048"/>
          </a:xfrm>
          <a:prstGeom prst="rect">
            <a:avLst/>
          </a:prstGeom>
          <a:noFill/>
          <a:ln/>
        </p:spPr>
        <p:txBody>
          <a:bodyPr wrap="square" rtlCol="0" anchor="ctr"/>
          <a:lstStyle/>
          <a:p>
            <a:pPr algn="ctr" indent="0" marL="0">
              <a:buNone/>
            </a:pPr>
            <a:r>
              <a:rPr lang="en-US" sz="1300" b="1" dirty="0">
                <a:solidFill>
                  <a:srgbClr val="0D0D0D"/>
                </a:solidFill>
                <a:latin typeface="Arial Black" pitchFamily="34" charset="0"/>
                <a:ea typeface="Arial Black" pitchFamily="34" charset="-122"/>
                <a:cs typeface="Arial Black" pitchFamily="34" charset="-120"/>
              </a:rPr>
              <a:t>P</a:t>
            </a:r>
            <a:endParaRPr lang="en-US" sz="1300" dirty="0"/>
          </a:p>
        </p:txBody>
      </p:sp>
      <p:sp>
        <p:nvSpPr>
          <p:cNvPr id="22" name="Text 20"/>
          <p:cNvSpPr/>
          <p:nvPr/>
        </p:nvSpPr>
        <p:spPr>
          <a:xfrm>
            <a:off x="5349240" y="731520"/>
            <a:ext cx="3474720" cy="320040"/>
          </a:xfrm>
          <a:prstGeom prst="rect">
            <a:avLst/>
          </a:prstGeom>
          <a:noFill/>
          <a:ln/>
        </p:spPr>
        <p:txBody>
          <a:bodyPr wrap="square"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Alimentación phantom (+48V)</a:t>
            </a:r>
            <a:endParaRPr lang="en-US" sz="1150" dirty="0"/>
          </a:p>
        </p:txBody>
      </p:sp>
      <p:sp>
        <p:nvSpPr>
          <p:cNvPr id="23" name="Text 21"/>
          <p:cNvSpPr/>
          <p:nvPr/>
        </p:nvSpPr>
        <p:spPr>
          <a:xfrm>
            <a:off x="4864608" y="1143000"/>
            <a:ext cx="3931920" cy="749808"/>
          </a:xfrm>
          <a:prstGeom prst="rect">
            <a:avLst/>
          </a:prstGeom>
          <a:noFill/>
          <a:ln/>
        </p:spPr>
        <p:txBody>
          <a:bodyPr wrap="square" rtlCol="0" anchor="ctr"/>
          <a:lstStyle/>
          <a:p>
            <a:pPr algn="just" indent="0" marL="0">
              <a:buNone/>
            </a:pPr>
            <a:r>
              <a:rPr lang="en-US" sz="1000" dirty="0">
                <a:solidFill>
                  <a:srgbClr val="E5E7EB"/>
                </a:solidFill>
                <a:latin typeface="Calibri" pitchFamily="34" charset="0"/>
                <a:ea typeface="Calibri" pitchFamily="34" charset="-122"/>
                <a:cs typeface="Calibri" pitchFamily="34" charset="-120"/>
              </a:rPr>
              <a:t>Cada canal tiene phantom power independiente, permitiendo usar micrófonos de condensador en todos los canales simultáneamente o en combinación con micrófonos dinámicos.</a:t>
            </a:r>
            <a:endParaRPr lang="en-US" sz="1000" dirty="0"/>
          </a:p>
        </p:txBody>
      </p:sp>
      <p:sp>
        <p:nvSpPr>
          <p:cNvPr id="24" name="Shape 22"/>
          <p:cNvSpPr/>
          <p:nvPr/>
        </p:nvSpPr>
        <p:spPr>
          <a:xfrm>
            <a:off x="4754880" y="2084832"/>
            <a:ext cx="4160520" cy="1298448"/>
          </a:xfrm>
          <a:prstGeom prst="rect">
            <a:avLst/>
          </a:prstGeom>
          <a:solidFill>
            <a:srgbClr val="1C2B3A"/>
          </a:solidFill>
          <a:ln w="12700">
            <a:solidFill>
              <a:srgbClr val="2DD4BF"/>
            </a:solidFill>
            <a:prstDash val="solid"/>
          </a:ln>
          <a:effectLst>
            <a:outerShdw sx="100000" sy="100000" kx="0" ky="0" algn="bl" rotWithShape="0" blurRad="101600" dist="38100" dir="8100000">
              <a:srgbClr val="000000">
                <a:alpha val="30000"/>
              </a:srgbClr>
            </a:outerShdw>
          </a:effectLst>
        </p:spPr>
      </p:sp>
      <p:sp>
        <p:nvSpPr>
          <p:cNvPr id="25" name="Shape 23"/>
          <p:cNvSpPr/>
          <p:nvPr/>
        </p:nvSpPr>
        <p:spPr>
          <a:xfrm>
            <a:off x="4864608" y="2194560"/>
            <a:ext cx="384048" cy="384048"/>
          </a:xfrm>
          <a:prstGeom prst="ellipse">
            <a:avLst/>
          </a:prstGeom>
          <a:solidFill>
            <a:srgbClr val="2DD4BF"/>
          </a:solidFill>
          <a:ln w="12700">
            <a:solidFill>
              <a:srgbClr val="2DD4BF"/>
            </a:solidFill>
            <a:prstDash val="solid"/>
          </a:ln>
        </p:spPr>
      </p:sp>
      <p:sp>
        <p:nvSpPr>
          <p:cNvPr id="26" name="Text 24"/>
          <p:cNvSpPr/>
          <p:nvPr/>
        </p:nvSpPr>
        <p:spPr>
          <a:xfrm>
            <a:off x="4864608" y="2194560"/>
            <a:ext cx="384048" cy="384048"/>
          </a:xfrm>
          <a:prstGeom prst="rect">
            <a:avLst/>
          </a:prstGeom>
          <a:noFill/>
          <a:ln/>
        </p:spPr>
        <p:txBody>
          <a:bodyPr wrap="square" rtlCol="0" anchor="ctr"/>
          <a:lstStyle/>
          <a:p>
            <a:pPr algn="ctr" indent="0" marL="0">
              <a:buNone/>
            </a:pPr>
            <a:r>
              <a:rPr lang="en-US" sz="1300" b="1" dirty="0">
                <a:solidFill>
                  <a:srgbClr val="0D0D0D"/>
                </a:solidFill>
                <a:latin typeface="Arial Black" pitchFamily="34" charset="0"/>
                <a:ea typeface="Arial Black" pitchFamily="34" charset="-122"/>
                <a:cs typeface="Arial Black" pitchFamily="34" charset="-120"/>
              </a:rPr>
              <a:t>D</a:t>
            </a:r>
            <a:endParaRPr lang="en-US" sz="1300" dirty="0"/>
          </a:p>
        </p:txBody>
      </p:sp>
      <p:sp>
        <p:nvSpPr>
          <p:cNvPr id="27" name="Text 25"/>
          <p:cNvSpPr/>
          <p:nvPr/>
        </p:nvSpPr>
        <p:spPr>
          <a:xfrm>
            <a:off x="5349240" y="2176272"/>
            <a:ext cx="3474720" cy="320040"/>
          </a:xfrm>
          <a:prstGeom prst="rect">
            <a:avLst/>
          </a:prstGeom>
          <a:noFill/>
          <a:ln/>
        </p:spPr>
        <p:txBody>
          <a:bodyPr wrap="square"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Salida directa (Direct Out)</a:t>
            </a:r>
            <a:endParaRPr lang="en-US" sz="1150" dirty="0"/>
          </a:p>
        </p:txBody>
      </p:sp>
      <p:sp>
        <p:nvSpPr>
          <p:cNvPr id="28" name="Text 26"/>
          <p:cNvSpPr/>
          <p:nvPr/>
        </p:nvSpPr>
        <p:spPr>
          <a:xfrm>
            <a:off x="4864608" y="2587752"/>
            <a:ext cx="3931920" cy="749808"/>
          </a:xfrm>
          <a:prstGeom prst="rect">
            <a:avLst/>
          </a:prstGeom>
          <a:noFill/>
          <a:ln/>
        </p:spPr>
        <p:txBody>
          <a:bodyPr wrap="square" rtlCol="0" anchor="ctr"/>
          <a:lstStyle/>
          <a:p>
            <a:pPr algn="just" indent="0" marL="0">
              <a:buNone/>
            </a:pPr>
            <a:r>
              <a:rPr lang="en-US" sz="1000" dirty="0">
                <a:solidFill>
                  <a:srgbClr val="E5E7EB"/>
                </a:solidFill>
                <a:latin typeface="Calibri" pitchFamily="34" charset="0"/>
                <a:ea typeface="Calibri" pitchFamily="34" charset="-122"/>
                <a:cs typeface="Calibri" pitchFamily="34" charset="-120"/>
              </a:rPr>
              <a:t>Posee una salida de línea directa por canal (TRS), ideal para enrutamiento a DAW o a procesadores externos de forma independiente, sin afectar la salida principal XLR.</a:t>
            </a:r>
            <a:endParaRPr lang="en-US" sz="1000" dirty="0"/>
          </a:p>
        </p:txBody>
      </p:sp>
      <p:sp>
        <p:nvSpPr>
          <p:cNvPr id="29" name="Shape 27"/>
          <p:cNvSpPr/>
          <p:nvPr/>
        </p:nvSpPr>
        <p:spPr>
          <a:xfrm>
            <a:off x="4754880" y="3529584"/>
            <a:ext cx="4160520" cy="1298448"/>
          </a:xfrm>
          <a:prstGeom prst="rect">
            <a:avLst/>
          </a:prstGeom>
          <a:solidFill>
            <a:srgbClr val="1C2B3A"/>
          </a:solidFill>
          <a:ln w="12700">
            <a:solidFill>
              <a:srgbClr val="2DD4BF"/>
            </a:solidFill>
            <a:prstDash val="solid"/>
          </a:ln>
          <a:effectLst>
            <a:outerShdw sx="100000" sy="100000" kx="0" ky="0" algn="bl" rotWithShape="0" blurRad="101600" dist="38100" dir="8100000">
              <a:srgbClr val="000000">
                <a:alpha val="30000"/>
              </a:srgbClr>
            </a:outerShdw>
          </a:effectLst>
        </p:spPr>
      </p:sp>
      <p:sp>
        <p:nvSpPr>
          <p:cNvPr id="30" name="Shape 28"/>
          <p:cNvSpPr/>
          <p:nvPr/>
        </p:nvSpPr>
        <p:spPr>
          <a:xfrm>
            <a:off x="4864608" y="3639312"/>
            <a:ext cx="384048" cy="384048"/>
          </a:xfrm>
          <a:prstGeom prst="ellipse">
            <a:avLst/>
          </a:prstGeom>
          <a:solidFill>
            <a:srgbClr val="2DD4BF"/>
          </a:solidFill>
          <a:ln w="12700">
            <a:solidFill>
              <a:srgbClr val="2DD4BF"/>
            </a:solidFill>
            <a:prstDash val="solid"/>
          </a:ln>
        </p:spPr>
      </p:sp>
      <p:sp>
        <p:nvSpPr>
          <p:cNvPr id="31" name="Text 29"/>
          <p:cNvSpPr/>
          <p:nvPr/>
        </p:nvSpPr>
        <p:spPr>
          <a:xfrm>
            <a:off x="4864608" y="3639312"/>
            <a:ext cx="384048" cy="384048"/>
          </a:xfrm>
          <a:prstGeom prst="rect">
            <a:avLst/>
          </a:prstGeom>
          <a:noFill/>
          <a:ln/>
        </p:spPr>
        <p:txBody>
          <a:bodyPr wrap="square" rtlCol="0" anchor="ctr"/>
          <a:lstStyle/>
          <a:p>
            <a:pPr algn="ctr" indent="0" marL="0">
              <a:buNone/>
            </a:pPr>
            <a:r>
              <a:rPr lang="en-US" sz="1300" b="1" dirty="0">
                <a:solidFill>
                  <a:srgbClr val="0D0D0D"/>
                </a:solidFill>
                <a:latin typeface="Arial Black" pitchFamily="34" charset="0"/>
                <a:ea typeface="Arial Black" pitchFamily="34" charset="-122"/>
                <a:cs typeface="Arial Black" pitchFamily="34" charset="-120"/>
              </a:rPr>
              <a:t>N</a:t>
            </a:r>
            <a:endParaRPr lang="en-US" sz="1300" dirty="0"/>
          </a:p>
        </p:txBody>
      </p:sp>
      <p:sp>
        <p:nvSpPr>
          <p:cNvPr id="32" name="Text 30"/>
          <p:cNvSpPr/>
          <p:nvPr/>
        </p:nvSpPr>
        <p:spPr>
          <a:xfrm>
            <a:off x="5349240" y="3621024"/>
            <a:ext cx="3474720" cy="320040"/>
          </a:xfrm>
          <a:prstGeom prst="rect">
            <a:avLst/>
          </a:prstGeom>
          <a:noFill/>
          <a:ln/>
        </p:spPr>
        <p:txBody>
          <a:bodyPr wrap="square" rtlCol="0" anchor="ctr"/>
          <a:lstStyle/>
          <a:p>
            <a:pPr indent="0" marL="0">
              <a:buNone/>
            </a:pPr>
            <a:r>
              <a:rPr lang="en-US" sz="1150" b="1" dirty="0">
                <a:solidFill>
                  <a:srgbClr val="2DD4BF"/>
                </a:solidFill>
                <a:latin typeface="Calibri" pitchFamily="34" charset="0"/>
                <a:ea typeface="Calibri" pitchFamily="34" charset="-122"/>
                <a:cs typeface="Calibri" pitchFamily="34" charset="-120"/>
              </a:rPr>
              <a:t>EIN: Ruido ultra bajo</a:t>
            </a:r>
            <a:endParaRPr lang="en-US" sz="1150" dirty="0"/>
          </a:p>
        </p:txBody>
      </p:sp>
      <p:sp>
        <p:nvSpPr>
          <p:cNvPr id="33" name="Text 31"/>
          <p:cNvSpPr/>
          <p:nvPr/>
        </p:nvSpPr>
        <p:spPr>
          <a:xfrm>
            <a:off x="4864608" y="4032504"/>
            <a:ext cx="3931920" cy="749808"/>
          </a:xfrm>
          <a:prstGeom prst="rect">
            <a:avLst/>
          </a:prstGeom>
          <a:noFill/>
          <a:ln/>
        </p:spPr>
        <p:txBody>
          <a:bodyPr wrap="square" rtlCol="0" anchor="ctr"/>
          <a:lstStyle/>
          <a:p>
            <a:pPr algn="just" indent="0" marL="0">
              <a:buNone/>
            </a:pPr>
            <a:r>
              <a:rPr lang="en-US" sz="1000" dirty="0">
                <a:solidFill>
                  <a:srgbClr val="E5E7EB"/>
                </a:solidFill>
                <a:latin typeface="Calibri" pitchFamily="34" charset="0"/>
                <a:ea typeface="Calibri" pitchFamily="34" charset="-122"/>
                <a:cs typeface="Calibri" pitchFamily="34" charset="-120"/>
              </a:rPr>
              <a:t>Con un nivel de ruido de entrada (EIN) menor a -131 dBu, el m801 es silencioso en extremo, crítico para grabar fuentes dinámicas (voz suave, cuerdas, acústica).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59E0B"/>
          </a:solidFill>
          <a:ln w="12700">
            <a:solidFill>
              <a:srgbClr val="F59E0B"/>
            </a:solidFill>
            <a:prstDash val="solid"/>
          </a:ln>
        </p:spPr>
      </p:sp>
      <p:sp>
        <p:nvSpPr>
          <p:cNvPr id="3" name="Text 1"/>
          <p:cNvSpPr/>
          <p:nvPr/>
        </p:nvSpPr>
        <p:spPr>
          <a:xfrm>
            <a:off x="274320" y="73152"/>
            <a:ext cx="8229600" cy="365760"/>
          </a:xfrm>
          <a:prstGeom prst="rect">
            <a:avLst/>
          </a:prstGeom>
          <a:noFill/>
          <a:ln/>
        </p:spPr>
        <p:txBody>
          <a:bodyPr wrap="square" rtlCol="0" anchor="ctr"/>
          <a:lstStyle/>
          <a:p>
            <a:pPr indent="0" marL="0">
              <a:buNone/>
            </a:pPr>
            <a:r>
              <a:rPr lang="en-US" sz="1600" b="1" dirty="0">
                <a:solidFill>
                  <a:srgbClr val="0D0D0D"/>
                </a:solidFill>
                <a:latin typeface="Arial Black" pitchFamily="34" charset="0"/>
                <a:ea typeface="Arial Black" pitchFamily="34" charset="-122"/>
                <a:cs typeface="Arial Black" pitchFamily="34" charset="-120"/>
              </a:rPr>
              <a:t>03  ·  NEVE 2264ALBB — Compresor/Limitador Clásico</a:t>
            </a:r>
            <a:endParaRPr lang="en-US" sz="1600" dirty="0"/>
          </a:p>
        </p:txBody>
      </p:sp>
      <p:sp>
        <p:nvSpPr>
          <p:cNvPr id="4" name="Text 2"/>
          <p:cNvSpPr/>
          <p:nvPr/>
        </p:nvSpPr>
        <p:spPr>
          <a:xfrm>
            <a:off x="365760" y="685800"/>
            <a:ext cx="8412480" cy="411480"/>
          </a:xfrm>
          <a:prstGeom prst="rect">
            <a:avLst/>
          </a:prstGeom>
          <a:noFill/>
          <a:ln/>
        </p:spPr>
        <p:txBody>
          <a:bodyPr wrap="square" rtlCol="0" anchor="ctr"/>
          <a:lstStyle/>
          <a:p>
            <a:pPr indent="0" marL="0">
              <a:buNone/>
            </a:pPr>
            <a:r>
              <a:rPr lang="en-US" sz="2000" b="1" dirty="0">
                <a:solidFill>
                  <a:srgbClr val="F59E0B"/>
                </a:solidFill>
                <a:latin typeface="Arial Black" pitchFamily="34" charset="0"/>
                <a:ea typeface="Arial Black" pitchFamily="34" charset="-122"/>
                <a:cs typeface="Arial Black" pitchFamily="34" charset="-120"/>
              </a:rPr>
              <a:t>¿Qué es el Neve 2264ALBB?</a:t>
            </a:r>
            <a:endParaRPr lang="en-US" sz="2000" dirty="0"/>
          </a:p>
        </p:txBody>
      </p:sp>
      <p:sp>
        <p:nvSpPr>
          <p:cNvPr id="5" name="Text 3"/>
          <p:cNvSpPr/>
          <p:nvPr/>
        </p:nvSpPr>
        <p:spPr>
          <a:xfrm>
            <a:off x="365760" y="1097280"/>
            <a:ext cx="8412480" cy="960120"/>
          </a:xfrm>
          <a:prstGeom prst="rect">
            <a:avLst/>
          </a:prstGeom>
          <a:noFill/>
          <a:ln/>
        </p:spPr>
        <p:txBody>
          <a:bodyPr wrap="square" rtlCol="0" anchor="ctr"/>
          <a:lstStyle/>
          <a:p>
            <a:pPr algn="just" indent="0" marL="0">
              <a:buNone/>
            </a:pPr>
            <a:r>
              <a:rPr lang="en-US" sz="1250" dirty="0">
                <a:solidFill>
                  <a:srgbClr val="E5E7EB"/>
                </a:solidFill>
                <a:latin typeface="Calibri" pitchFamily="34" charset="0"/>
                <a:ea typeface="Calibri" pitchFamily="34" charset="-122"/>
                <a:cs typeface="Calibri" pitchFamily="34" charset="-120"/>
              </a:rPr>
              <a:t>El Neve 2264ALBB es la reencarnación en formato 500 o modular del legendario compresor/limitador 2264 original, diseñado por Rupert Neve en los años 70 para sus consolas de mezcla. Es famoso por su carácter sonoro único: los transformadores de entrada/salida Neve añaden calidez, densidad y 'pegada' que lo hacen inconfundible. Es un clásico absoluto en grabación de batería, bajo, voces y bus principal.</a:t>
            </a:r>
            <a:endParaRPr lang="en-US" sz="1250" dirty="0"/>
          </a:p>
        </p:txBody>
      </p:sp>
      <p:sp>
        <p:nvSpPr>
          <p:cNvPr id="6" name="Shape 4"/>
          <p:cNvSpPr/>
          <p:nvPr/>
        </p:nvSpPr>
        <p:spPr>
          <a:xfrm>
            <a:off x="365760" y="2176272"/>
            <a:ext cx="8412480" cy="2377440"/>
          </a:xfrm>
          <a:prstGeom prst="rect">
            <a:avLst/>
          </a:prstGeom>
          <a:solidFill>
            <a:srgbClr val="1C2B3A"/>
          </a:solidFill>
          <a:ln w="12700">
            <a:solidFill>
              <a:srgbClr val="F59E0B"/>
            </a:solidFill>
            <a:prstDash val="solid"/>
          </a:ln>
          <a:effectLst>
            <a:outerShdw sx="100000" sy="100000" kx="0" ky="0" algn="bl" rotWithShape="0" blurRad="101600" dist="38100" dir="8100000">
              <a:srgbClr val="000000">
                <a:alpha val="30000"/>
              </a:srgbClr>
            </a:outerShdw>
          </a:effectLst>
        </p:spPr>
      </p:sp>
      <p:sp>
        <p:nvSpPr>
          <p:cNvPr id="7" name="Text 5"/>
          <p:cNvSpPr/>
          <p:nvPr/>
        </p:nvSpPr>
        <p:spPr>
          <a:xfrm>
            <a:off x="502920" y="2267712"/>
            <a:ext cx="8046720" cy="34747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Especificaciones Clave</a:t>
            </a:r>
            <a:endParaRPr lang="en-US" sz="1300" dirty="0"/>
          </a:p>
        </p:txBody>
      </p:sp>
      <p:sp>
        <p:nvSpPr>
          <p:cNvPr id="8" name="Shape 6"/>
          <p:cNvSpPr/>
          <p:nvPr/>
        </p:nvSpPr>
        <p:spPr>
          <a:xfrm>
            <a:off x="502920" y="2670048"/>
            <a:ext cx="2834640" cy="256032"/>
          </a:xfrm>
          <a:prstGeom prst="rect">
            <a:avLst/>
          </a:prstGeom>
          <a:solidFill>
            <a:srgbClr val="1F2937"/>
          </a:solidFill>
          <a:ln w="12700">
            <a:solidFill>
              <a:srgbClr val="1F2937"/>
            </a:solidFill>
            <a:prstDash val="solid"/>
          </a:ln>
        </p:spPr>
      </p:sp>
      <p:sp>
        <p:nvSpPr>
          <p:cNvPr id="9" name="Text 7"/>
          <p:cNvSpPr/>
          <p:nvPr/>
        </p:nvSpPr>
        <p:spPr>
          <a:xfrm>
            <a:off x="502920" y="2670048"/>
            <a:ext cx="2834640" cy="256032"/>
          </a:xfrm>
          <a:prstGeom prst="rect">
            <a:avLst/>
          </a:prstGeom>
          <a:noFill/>
          <a:ln/>
        </p:spPr>
        <p:txBody>
          <a:bodyPr wrap="square" lIns="63500" tIns="63500" rIns="63500" bIns="6350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Tipo de dispositivo</a:t>
            </a:r>
            <a:endParaRPr lang="en-US" sz="1050" dirty="0"/>
          </a:p>
        </p:txBody>
      </p:sp>
      <p:sp>
        <p:nvSpPr>
          <p:cNvPr id="10" name="Text 8"/>
          <p:cNvSpPr/>
          <p:nvPr/>
        </p:nvSpPr>
        <p:spPr>
          <a:xfrm>
            <a:off x="3429000" y="2670048"/>
            <a:ext cx="5212080" cy="256032"/>
          </a:xfrm>
          <a:prstGeom prst="rect">
            <a:avLst/>
          </a:prstGeom>
          <a:noFill/>
          <a:ln/>
        </p:spPr>
        <p:txBody>
          <a:bodyPr wrap="square" rtlCol="0" anchor="ctr"/>
          <a:lstStyle/>
          <a:p>
            <a:pPr indent="0" marL="0">
              <a:buNone/>
            </a:pPr>
            <a:r>
              <a:rPr lang="en-US" sz="1050" dirty="0">
                <a:solidFill>
                  <a:srgbClr val="E5E7EB"/>
                </a:solidFill>
                <a:latin typeface="Calibri" pitchFamily="34" charset="0"/>
                <a:ea typeface="Calibri" pitchFamily="34" charset="-122"/>
                <a:cs typeface="Calibri" pitchFamily="34" charset="-120"/>
              </a:rPr>
              <a:t>Compresor/Limitador analógico con transformadores</a:t>
            </a:r>
            <a:endParaRPr lang="en-US" sz="1050" dirty="0"/>
          </a:p>
        </p:txBody>
      </p:sp>
      <p:sp>
        <p:nvSpPr>
          <p:cNvPr id="11" name="Shape 9"/>
          <p:cNvSpPr/>
          <p:nvPr/>
        </p:nvSpPr>
        <p:spPr>
          <a:xfrm>
            <a:off x="502920" y="2971800"/>
            <a:ext cx="2834640" cy="256032"/>
          </a:xfrm>
          <a:prstGeom prst="rect">
            <a:avLst/>
          </a:prstGeom>
          <a:solidFill>
            <a:srgbClr val="1F2937"/>
          </a:solidFill>
          <a:ln w="12700">
            <a:solidFill>
              <a:srgbClr val="1F2937"/>
            </a:solidFill>
            <a:prstDash val="solid"/>
          </a:ln>
        </p:spPr>
      </p:sp>
      <p:sp>
        <p:nvSpPr>
          <p:cNvPr id="12" name="Text 10"/>
          <p:cNvSpPr/>
          <p:nvPr/>
        </p:nvSpPr>
        <p:spPr>
          <a:xfrm>
            <a:off x="502920" y="2971800"/>
            <a:ext cx="2834640" cy="256032"/>
          </a:xfrm>
          <a:prstGeom prst="rect">
            <a:avLst/>
          </a:prstGeom>
          <a:noFill/>
          <a:ln/>
        </p:spPr>
        <p:txBody>
          <a:bodyPr wrap="square" lIns="63500" tIns="63500" rIns="63500" bIns="6350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Tipo de compresor</a:t>
            </a:r>
            <a:endParaRPr lang="en-US" sz="1050" dirty="0"/>
          </a:p>
        </p:txBody>
      </p:sp>
      <p:sp>
        <p:nvSpPr>
          <p:cNvPr id="13" name="Text 11"/>
          <p:cNvSpPr/>
          <p:nvPr/>
        </p:nvSpPr>
        <p:spPr>
          <a:xfrm>
            <a:off x="3429000" y="2971800"/>
            <a:ext cx="5212080" cy="256032"/>
          </a:xfrm>
          <a:prstGeom prst="rect">
            <a:avLst/>
          </a:prstGeom>
          <a:noFill/>
          <a:ln/>
        </p:spPr>
        <p:txBody>
          <a:bodyPr wrap="square" rtlCol="0" anchor="ctr"/>
          <a:lstStyle/>
          <a:p>
            <a:pPr indent="0" marL="0">
              <a:buNone/>
            </a:pPr>
            <a:r>
              <a:rPr lang="en-US" sz="1050" dirty="0">
                <a:solidFill>
                  <a:srgbClr val="E5E7EB"/>
                </a:solidFill>
                <a:latin typeface="Calibri" pitchFamily="34" charset="0"/>
                <a:ea typeface="Calibri" pitchFamily="34" charset="-122"/>
                <a:cs typeface="Calibri" pitchFamily="34" charset="-120"/>
              </a:rPr>
              <a:t>Feed-forward VCA (con topología vintage)</a:t>
            </a:r>
            <a:endParaRPr lang="en-US" sz="1050" dirty="0"/>
          </a:p>
        </p:txBody>
      </p:sp>
      <p:sp>
        <p:nvSpPr>
          <p:cNvPr id="14" name="Shape 12"/>
          <p:cNvSpPr/>
          <p:nvPr/>
        </p:nvSpPr>
        <p:spPr>
          <a:xfrm>
            <a:off x="502920" y="3273552"/>
            <a:ext cx="2834640" cy="256032"/>
          </a:xfrm>
          <a:prstGeom prst="rect">
            <a:avLst/>
          </a:prstGeom>
          <a:solidFill>
            <a:srgbClr val="1F2937"/>
          </a:solidFill>
          <a:ln w="12700">
            <a:solidFill>
              <a:srgbClr val="1F2937"/>
            </a:solidFill>
            <a:prstDash val="solid"/>
          </a:ln>
        </p:spPr>
      </p:sp>
      <p:sp>
        <p:nvSpPr>
          <p:cNvPr id="15" name="Text 13"/>
          <p:cNvSpPr/>
          <p:nvPr/>
        </p:nvSpPr>
        <p:spPr>
          <a:xfrm>
            <a:off x="502920" y="3273552"/>
            <a:ext cx="2834640" cy="256032"/>
          </a:xfrm>
          <a:prstGeom prst="rect">
            <a:avLst/>
          </a:prstGeom>
          <a:noFill/>
          <a:ln/>
        </p:spPr>
        <p:txBody>
          <a:bodyPr wrap="square" lIns="63500" tIns="63500" rIns="63500" bIns="6350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Controles principales</a:t>
            </a:r>
            <a:endParaRPr lang="en-US" sz="1050" dirty="0"/>
          </a:p>
        </p:txBody>
      </p:sp>
      <p:sp>
        <p:nvSpPr>
          <p:cNvPr id="16" name="Text 14"/>
          <p:cNvSpPr/>
          <p:nvPr/>
        </p:nvSpPr>
        <p:spPr>
          <a:xfrm>
            <a:off x="3429000" y="3273552"/>
            <a:ext cx="5212080" cy="256032"/>
          </a:xfrm>
          <a:prstGeom prst="rect">
            <a:avLst/>
          </a:prstGeom>
          <a:noFill/>
          <a:ln/>
        </p:spPr>
        <p:txBody>
          <a:bodyPr wrap="square" rtlCol="0" anchor="ctr"/>
          <a:lstStyle/>
          <a:p>
            <a:pPr indent="0" marL="0">
              <a:buNone/>
            </a:pPr>
            <a:r>
              <a:rPr lang="en-US" sz="1050" dirty="0">
                <a:solidFill>
                  <a:srgbClr val="E5E7EB"/>
                </a:solidFill>
                <a:latin typeface="Calibri" pitchFamily="34" charset="0"/>
                <a:ea typeface="Calibri" pitchFamily="34" charset="-122"/>
                <a:cs typeface="Calibri" pitchFamily="34" charset="-120"/>
              </a:rPr>
              <a:t>Threshold, Ratio, Attack, Recovery (Release), Ganancia de salida</a:t>
            </a:r>
            <a:endParaRPr lang="en-US" sz="1050" dirty="0"/>
          </a:p>
        </p:txBody>
      </p:sp>
      <p:sp>
        <p:nvSpPr>
          <p:cNvPr id="17" name="Shape 15"/>
          <p:cNvSpPr/>
          <p:nvPr/>
        </p:nvSpPr>
        <p:spPr>
          <a:xfrm>
            <a:off x="502920" y="3575304"/>
            <a:ext cx="2834640" cy="256032"/>
          </a:xfrm>
          <a:prstGeom prst="rect">
            <a:avLst/>
          </a:prstGeom>
          <a:solidFill>
            <a:srgbClr val="1F2937"/>
          </a:solidFill>
          <a:ln w="12700">
            <a:solidFill>
              <a:srgbClr val="1F2937"/>
            </a:solidFill>
            <a:prstDash val="solid"/>
          </a:ln>
        </p:spPr>
      </p:sp>
      <p:sp>
        <p:nvSpPr>
          <p:cNvPr id="18" name="Text 16"/>
          <p:cNvSpPr/>
          <p:nvPr/>
        </p:nvSpPr>
        <p:spPr>
          <a:xfrm>
            <a:off x="502920" y="3575304"/>
            <a:ext cx="2834640" cy="256032"/>
          </a:xfrm>
          <a:prstGeom prst="rect">
            <a:avLst/>
          </a:prstGeom>
          <a:noFill/>
          <a:ln/>
        </p:spPr>
        <p:txBody>
          <a:bodyPr wrap="square" lIns="63500" tIns="63500" rIns="63500" bIns="6350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Ratio compresor</a:t>
            </a:r>
            <a:endParaRPr lang="en-US" sz="1050" dirty="0"/>
          </a:p>
        </p:txBody>
      </p:sp>
      <p:sp>
        <p:nvSpPr>
          <p:cNvPr id="19" name="Text 17"/>
          <p:cNvSpPr/>
          <p:nvPr/>
        </p:nvSpPr>
        <p:spPr>
          <a:xfrm>
            <a:off x="3429000" y="3575304"/>
            <a:ext cx="5212080" cy="256032"/>
          </a:xfrm>
          <a:prstGeom prst="rect">
            <a:avLst/>
          </a:prstGeom>
          <a:noFill/>
          <a:ln/>
        </p:spPr>
        <p:txBody>
          <a:bodyPr wrap="square" rtlCol="0" anchor="ctr"/>
          <a:lstStyle/>
          <a:p>
            <a:pPr indent="0" marL="0">
              <a:buNone/>
            </a:pPr>
            <a:r>
              <a:rPr lang="en-US" sz="1050" dirty="0">
                <a:solidFill>
                  <a:srgbClr val="E5E7EB"/>
                </a:solidFill>
                <a:latin typeface="Calibri" pitchFamily="34" charset="0"/>
                <a:ea typeface="Calibri" pitchFamily="34" charset="-122"/>
                <a:cs typeface="Calibri" pitchFamily="34" charset="-120"/>
              </a:rPr>
              <a:t>2:1 a 8:1 (típico)  |  Limitador: hasta 40:1</a:t>
            </a:r>
            <a:endParaRPr lang="en-US" sz="1050" dirty="0"/>
          </a:p>
        </p:txBody>
      </p:sp>
      <p:sp>
        <p:nvSpPr>
          <p:cNvPr id="20" name="Shape 18"/>
          <p:cNvSpPr/>
          <p:nvPr/>
        </p:nvSpPr>
        <p:spPr>
          <a:xfrm>
            <a:off x="502920" y="3877056"/>
            <a:ext cx="2834640" cy="256032"/>
          </a:xfrm>
          <a:prstGeom prst="rect">
            <a:avLst/>
          </a:prstGeom>
          <a:solidFill>
            <a:srgbClr val="1F2937"/>
          </a:solidFill>
          <a:ln w="12700">
            <a:solidFill>
              <a:srgbClr val="1F2937"/>
            </a:solidFill>
            <a:prstDash val="solid"/>
          </a:ln>
        </p:spPr>
      </p:sp>
      <p:sp>
        <p:nvSpPr>
          <p:cNvPr id="21" name="Text 19"/>
          <p:cNvSpPr/>
          <p:nvPr/>
        </p:nvSpPr>
        <p:spPr>
          <a:xfrm>
            <a:off x="502920" y="3877056"/>
            <a:ext cx="2834640" cy="256032"/>
          </a:xfrm>
          <a:prstGeom prst="rect">
            <a:avLst/>
          </a:prstGeom>
          <a:noFill/>
          <a:ln/>
        </p:spPr>
        <p:txBody>
          <a:bodyPr wrap="square" lIns="63500" tIns="63500" rIns="63500" bIns="6350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Circuito</a:t>
            </a:r>
            <a:endParaRPr lang="en-US" sz="1050" dirty="0"/>
          </a:p>
        </p:txBody>
      </p:sp>
      <p:sp>
        <p:nvSpPr>
          <p:cNvPr id="22" name="Text 20"/>
          <p:cNvSpPr/>
          <p:nvPr/>
        </p:nvSpPr>
        <p:spPr>
          <a:xfrm>
            <a:off x="3429000" y="3877056"/>
            <a:ext cx="5212080" cy="256032"/>
          </a:xfrm>
          <a:prstGeom prst="rect">
            <a:avLst/>
          </a:prstGeom>
          <a:noFill/>
          <a:ln/>
        </p:spPr>
        <p:txBody>
          <a:bodyPr wrap="square" rtlCol="0" anchor="ctr"/>
          <a:lstStyle/>
          <a:p>
            <a:pPr indent="0" marL="0">
              <a:buNone/>
            </a:pPr>
            <a:r>
              <a:rPr lang="en-US" sz="1050" dirty="0">
                <a:solidFill>
                  <a:srgbClr val="E5E7EB"/>
                </a:solidFill>
                <a:latin typeface="Calibri" pitchFamily="34" charset="0"/>
                <a:ea typeface="Calibri" pitchFamily="34" charset="-122"/>
                <a:cs typeface="Calibri" pitchFamily="34" charset="-120"/>
              </a:rPr>
              <a:t>Clase A/B con transformadores de entrada y salida Neve</a:t>
            </a:r>
            <a:endParaRPr lang="en-US" sz="1050" dirty="0"/>
          </a:p>
        </p:txBody>
      </p:sp>
      <p:sp>
        <p:nvSpPr>
          <p:cNvPr id="23" name="Shape 21"/>
          <p:cNvSpPr/>
          <p:nvPr/>
        </p:nvSpPr>
        <p:spPr>
          <a:xfrm>
            <a:off x="502920" y="4178808"/>
            <a:ext cx="2834640" cy="256032"/>
          </a:xfrm>
          <a:prstGeom prst="rect">
            <a:avLst/>
          </a:prstGeom>
          <a:solidFill>
            <a:srgbClr val="1F2937"/>
          </a:solidFill>
          <a:ln w="12700">
            <a:solidFill>
              <a:srgbClr val="1F2937"/>
            </a:solidFill>
            <a:prstDash val="solid"/>
          </a:ln>
        </p:spPr>
      </p:sp>
      <p:sp>
        <p:nvSpPr>
          <p:cNvPr id="24" name="Text 22"/>
          <p:cNvSpPr/>
          <p:nvPr/>
        </p:nvSpPr>
        <p:spPr>
          <a:xfrm>
            <a:off x="502920" y="4178808"/>
            <a:ext cx="2834640" cy="256032"/>
          </a:xfrm>
          <a:prstGeom prst="rect">
            <a:avLst/>
          </a:prstGeom>
          <a:noFill/>
          <a:ln/>
        </p:spPr>
        <p:txBody>
          <a:bodyPr wrap="square" lIns="63500" tIns="63500" rIns="63500" bIns="6350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Modo limitador</a:t>
            </a:r>
            <a:endParaRPr lang="en-US" sz="1050" dirty="0"/>
          </a:p>
        </p:txBody>
      </p:sp>
      <p:sp>
        <p:nvSpPr>
          <p:cNvPr id="25" name="Text 23"/>
          <p:cNvSpPr/>
          <p:nvPr/>
        </p:nvSpPr>
        <p:spPr>
          <a:xfrm>
            <a:off x="3429000" y="4178808"/>
            <a:ext cx="5212080" cy="256032"/>
          </a:xfrm>
          <a:prstGeom prst="rect">
            <a:avLst/>
          </a:prstGeom>
          <a:noFill/>
          <a:ln/>
        </p:spPr>
        <p:txBody>
          <a:bodyPr wrap="square" rtlCol="0" anchor="ctr"/>
          <a:lstStyle/>
          <a:p>
            <a:pPr indent="0" marL="0">
              <a:buNone/>
            </a:pPr>
            <a:r>
              <a:rPr lang="en-US" sz="1050" dirty="0">
                <a:solidFill>
                  <a:srgbClr val="E5E7EB"/>
                </a:solidFill>
                <a:latin typeface="Calibri" pitchFamily="34" charset="0"/>
                <a:ea typeface="Calibri" pitchFamily="34" charset="-122"/>
                <a:cs typeface="Calibri" pitchFamily="34" charset="-120"/>
              </a:rPr>
              <a:t>Switch que activa limitación rápida e independiente del compresor</a:t>
            </a:r>
            <a:endParaRPr lang="en-US" sz="1050" dirty="0"/>
          </a:p>
        </p:txBody>
      </p:sp>
      <p:sp>
        <p:nvSpPr>
          <p:cNvPr id="26" name="Text 24"/>
          <p:cNvSpPr/>
          <p:nvPr/>
        </p:nvSpPr>
        <p:spPr>
          <a:xfrm>
            <a:off x="365760" y="4754880"/>
            <a:ext cx="8412480" cy="274320"/>
          </a:xfrm>
          <a:prstGeom prst="rect">
            <a:avLst/>
          </a:prstGeom>
          <a:noFill/>
          <a:ln/>
        </p:spPr>
        <p:txBody>
          <a:bodyPr wrap="square" rtlCol="0" anchor="ctr"/>
          <a:lstStyle/>
          <a:p>
            <a:pPr algn="ctr" indent="0" marL="0">
              <a:buNone/>
            </a:pPr>
            <a:r>
              <a:rPr lang="en-US" sz="1000" i="1" dirty="0">
                <a:solidFill>
                  <a:srgbClr val="9CA3AF"/>
                </a:solidFill>
                <a:latin typeface="Calibri" pitchFamily="34" charset="0"/>
                <a:ea typeface="Calibri" pitchFamily="34" charset="-122"/>
                <a:cs typeface="Calibri" pitchFamily="34" charset="-120"/>
              </a:rPr>
              <a:t>Diseño original 1970s por Rupert Neve · Estándar en los más grandes estudios del mundo</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F59E0B"/>
          </a:solidFill>
          <a:ln w="12700">
            <a:solidFill>
              <a:srgbClr val="F59E0B"/>
            </a:solidFill>
            <a:prstDash val="solid"/>
          </a:ln>
        </p:spPr>
      </p:sp>
      <p:sp>
        <p:nvSpPr>
          <p:cNvPr id="3" name="Text 1"/>
          <p:cNvSpPr/>
          <p:nvPr/>
        </p:nvSpPr>
        <p:spPr>
          <a:xfrm>
            <a:off x="274320" y="73152"/>
            <a:ext cx="8229600" cy="365760"/>
          </a:xfrm>
          <a:prstGeom prst="rect">
            <a:avLst/>
          </a:prstGeom>
          <a:noFill/>
          <a:ln/>
        </p:spPr>
        <p:txBody>
          <a:bodyPr wrap="square" rtlCol="0" anchor="ctr"/>
          <a:lstStyle/>
          <a:p>
            <a:pPr indent="0" marL="0">
              <a:buNone/>
            </a:pPr>
            <a:r>
              <a:rPr lang="en-US" sz="1600" b="1" dirty="0">
                <a:solidFill>
                  <a:srgbClr val="0D0D0D"/>
                </a:solidFill>
                <a:latin typeface="Arial Black" pitchFamily="34" charset="0"/>
                <a:ea typeface="Arial Black" pitchFamily="34" charset="-122"/>
                <a:cs typeface="Arial Black" pitchFamily="34" charset="-120"/>
              </a:rPr>
              <a:t>03  ·  NEVE 2264ALBB — Funcionamiento y Color Sonoro</a:t>
            </a:r>
            <a:endParaRPr lang="en-US" sz="1600" dirty="0"/>
          </a:p>
        </p:txBody>
      </p:sp>
      <p:sp>
        <p:nvSpPr>
          <p:cNvPr id="4" name="Shape 2"/>
          <p:cNvSpPr/>
          <p:nvPr/>
        </p:nvSpPr>
        <p:spPr>
          <a:xfrm>
            <a:off x="320040" y="640080"/>
            <a:ext cx="4160520" cy="1298448"/>
          </a:xfrm>
          <a:prstGeom prst="rect">
            <a:avLst/>
          </a:prstGeom>
          <a:solidFill>
            <a:srgbClr val="1C2B3A"/>
          </a:solidFill>
          <a:ln w="12700">
            <a:solidFill>
              <a:srgbClr val="F59E0B"/>
            </a:solidFill>
            <a:prstDash val="solid"/>
          </a:ln>
          <a:effectLst>
            <a:outerShdw sx="100000" sy="100000" kx="0" ky="0" algn="bl" rotWithShape="0" blurRad="101600" dist="38100" dir="8100000">
              <a:srgbClr val="000000">
                <a:alpha val="30000"/>
              </a:srgbClr>
            </a:outerShdw>
          </a:effectLst>
        </p:spPr>
      </p:sp>
      <p:sp>
        <p:nvSpPr>
          <p:cNvPr id="5" name="Shape 3"/>
          <p:cNvSpPr/>
          <p:nvPr/>
        </p:nvSpPr>
        <p:spPr>
          <a:xfrm>
            <a:off x="320040" y="640080"/>
            <a:ext cx="4160520" cy="347472"/>
          </a:xfrm>
          <a:prstGeom prst="rect">
            <a:avLst/>
          </a:prstGeom>
          <a:solidFill>
            <a:srgbClr val="F59E0B">
              <a:alpha val="80000"/>
            </a:srgbClr>
          </a:solidFill>
          <a:ln w="12700">
            <a:solidFill>
              <a:srgbClr val="F59E0B">
                <a:alpha val="80000"/>
              </a:srgbClr>
            </a:solidFill>
            <a:prstDash val="solid"/>
          </a:ln>
        </p:spPr>
      </p:sp>
      <p:sp>
        <p:nvSpPr>
          <p:cNvPr id="6" name="Text 4"/>
          <p:cNvSpPr/>
          <p:nvPr/>
        </p:nvSpPr>
        <p:spPr>
          <a:xfrm>
            <a:off x="411480" y="685800"/>
            <a:ext cx="39319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Transformadores Neve</a:t>
            </a:r>
            <a:endParaRPr lang="en-US" sz="1200" dirty="0"/>
          </a:p>
        </p:txBody>
      </p:sp>
      <p:sp>
        <p:nvSpPr>
          <p:cNvPr id="7" name="Text 5"/>
          <p:cNvSpPr/>
          <p:nvPr/>
        </p:nvSpPr>
        <p:spPr>
          <a:xfrm>
            <a:off x="411480" y="1051560"/>
            <a:ext cx="3931920" cy="777240"/>
          </a:xfrm>
          <a:prstGeom prst="rect">
            <a:avLst/>
          </a:prstGeom>
          <a:noFill/>
          <a:ln/>
        </p:spPr>
        <p:txBody>
          <a:bodyPr wrap="square" rtlCol="0" anchor="ctr"/>
          <a:lstStyle/>
          <a:p>
            <a:pPr algn="just" indent="0" marL="0">
              <a:buNone/>
            </a:pPr>
            <a:r>
              <a:rPr lang="en-US" sz="1050" dirty="0">
                <a:solidFill>
                  <a:srgbClr val="E5E7EB"/>
                </a:solidFill>
                <a:latin typeface="Calibri" pitchFamily="34" charset="0"/>
                <a:ea typeface="Calibri" pitchFamily="34" charset="-122"/>
                <a:cs typeface="Calibri" pitchFamily="34" charset="-120"/>
              </a:rPr>
              <a:t>El 2264ALBB usa transformadores de entrada y salida diseñados por Neve. Estos añaden saturación armónica de 2º armónico, dando calidez, densidad baja y la 'magia' que no puede replicarse digitalmente.</a:t>
            </a:r>
            <a:endParaRPr lang="en-US" sz="1050" dirty="0"/>
          </a:p>
        </p:txBody>
      </p:sp>
      <p:sp>
        <p:nvSpPr>
          <p:cNvPr id="8" name="Shape 6"/>
          <p:cNvSpPr/>
          <p:nvPr/>
        </p:nvSpPr>
        <p:spPr>
          <a:xfrm>
            <a:off x="320040" y="2084832"/>
            <a:ext cx="4160520" cy="1298448"/>
          </a:xfrm>
          <a:prstGeom prst="rect">
            <a:avLst/>
          </a:prstGeom>
          <a:solidFill>
            <a:srgbClr val="1C2B3A"/>
          </a:solidFill>
          <a:ln w="12700">
            <a:solidFill>
              <a:srgbClr val="F59E0B"/>
            </a:solidFill>
            <a:prstDash val="solid"/>
          </a:ln>
          <a:effectLst>
            <a:outerShdw sx="100000" sy="100000" kx="0" ky="0" algn="bl" rotWithShape="0" blurRad="101600" dist="38100" dir="8100000">
              <a:srgbClr val="000000">
                <a:alpha val="30000"/>
              </a:srgbClr>
            </a:outerShdw>
          </a:effectLst>
        </p:spPr>
      </p:sp>
      <p:sp>
        <p:nvSpPr>
          <p:cNvPr id="9" name="Shape 7"/>
          <p:cNvSpPr/>
          <p:nvPr/>
        </p:nvSpPr>
        <p:spPr>
          <a:xfrm>
            <a:off x="320040" y="2084832"/>
            <a:ext cx="4160520" cy="347472"/>
          </a:xfrm>
          <a:prstGeom prst="rect">
            <a:avLst/>
          </a:prstGeom>
          <a:solidFill>
            <a:srgbClr val="F59E0B">
              <a:alpha val="80000"/>
            </a:srgbClr>
          </a:solidFill>
          <a:ln w="12700">
            <a:solidFill>
              <a:srgbClr val="F59E0B">
                <a:alpha val="80000"/>
              </a:srgbClr>
            </a:solidFill>
            <a:prstDash val="solid"/>
          </a:ln>
        </p:spPr>
      </p:sp>
      <p:sp>
        <p:nvSpPr>
          <p:cNvPr id="10" name="Text 8"/>
          <p:cNvSpPr/>
          <p:nvPr/>
        </p:nvSpPr>
        <p:spPr>
          <a:xfrm>
            <a:off x="411480" y="2130552"/>
            <a:ext cx="39319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Compresor + Limitador independiente</a:t>
            </a:r>
            <a:endParaRPr lang="en-US" sz="1200" dirty="0"/>
          </a:p>
        </p:txBody>
      </p:sp>
      <p:sp>
        <p:nvSpPr>
          <p:cNvPr id="11" name="Text 9"/>
          <p:cNvSpPr/>
          <p:nvPr/>
        </p:nvSpPr>
        <p:spPr>
          <a:xfrm>
            <a:off x="411480" y="2496312"/>
            <a:ext cx="3931920" cy="777240"/>
          </a:xfrm>
          <a:prstGeom prst="rect">
            <a:avLst/>
          </a:prstGeom>
          <a:noFill/>
          <a:ln/>
        </p:spPr>
        <p:txBody>
          <a:bodyPr wrap="square" rtlCol="0" anchor="ctr"/>
          <a:lstStyle/>
          <a:p>
            <a:pPr algn="just" indent="0" marL="0">
              <a:buNone/>
            </a:pPr>
            <a:r>
              <a:rPr lang="en-US" sz="1050" dirty="0">
                <a:solidFill>
                  <a:srgbClr val="E5E7EB"/>
                </a:solidFill>
                <a:latin typeface="Calibri" pitchFamily="34" charset="0"/>
                <a:ea typeface="Calibri" pitchFamily="34" charset="-122"/>
                <a:cs typeface="Calibri" pitchFamily="34" charset="-120"/>
              </a:rPr>
              <a:t>Cuenta con dos etapas: compresor suave (2:1 a 8:1) y un limitador rápido separado. Ambos pueden usarse juntos o por separado, ofreciendo máximo control dinámico.</a:t>
            </a:r>
            <a:endParaRPr lang="en-US" sz="1050" dirty="0"/>
          </a:p>
        </p:txBody>
      </p:sp>
      <p:sp>
        <p:nvSpPr>
          <p:cNvPr id="12" name="Shape 10"/>
          <p:cNvSpPr/>
          <p:nvPr/>
        </p:nvSpPr>
        <p:spPr>
          <a:xfrm>
            <a:off x="320040" y="3529584"/>
            <a:ext cx="4160520" cy="1298448"/>
          </a:xfrm>
          <a:prstGeom prst="rect">
            <a:avLst/>
          </a:prstGeom>
          <a:solidFill>
            <a:srgbClr val="1C2B3A"/>
          </a:solidFill>
          <a:ln w="12700">
            <a:solidFill>
              <a:srgbClr val="F59E0B"/>
            </a:solidFill>
            <a:prstDash val="solid"/>
          </a:ln>
          <a:effectLst>
            <a:outerShdw sx="100000" sy="100000" kx="0" ky="0" algn="bl" rotWithShape="0" blurRad="101600" dist="38100" dir="8100000">
              <a:srgbClr val="000000">
                <a:alpha val="30000"/>
              </a:srgbClr>
            </a:outerShdw>
          </a:effectLst>
        </p:spPr>
      </p:sp>
      <p:sp>
        <p:nvSpPr>
          <p:cNvPr id="13" name="Shape 11"/>
          <p:cNvSpPr/>
          <p:nvPr/>
        </p:nvSpPr>
        <p:spPr>
          <a:xfrm>
            <a:off x="320040" y="3529584"/>
            <a:ext cx="4160520" cy="347472"/>
          </a:xfrm>
          <a:prstGeom prst="rect">
            <a:avLst/>
          </a:prstGeom>
          <a:solidFill>
            <a:srgbClr val="F59E0B">
              <a:alpha val="80000"/>
            </a:srgbClr>
          </a:solidFill>
          <a:ln w="12700">
            <a:solidFill>
              <a:srgbClr val="F59E0B">
                <a:alpha val="80000"/>
              </a:srgbClr>
            </a:solidFill>
            <a:prstDash val="solid"/>
          </a:ln>
        </p:spPr>
      </p:sp>
      <p:sp>
        <p:nvSpPr>
          <p:cNvPr id="14" name="Text 12"/>
          <p:cNvSpPr/>
          <p:nvPr/>
        </p:nvSpPr>
        <p:spPr>
          <a:xfrm>
            <a:off x="411480" y="3575304"/>
            <a:ext cx="39319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Recovery (Release) Program-Dependent</a:t>
            </a:r>
            <a:endParaRPr lang="en-US" sz="1200" dirty="0"/>
          </a:p>
        </p:txBody>
      </p:sp>
      <p:sp>
        <p:nvSpPr>
          <p:cNvPr id="15" name="Text 13"/>
          <p:cNvSpPr/>
          <p:nvPr/>
        </p:nvSpPr>
        <p:spPr>
          <a:xfrm>
            <a:off x="411480" y="3941064"/>
            <a:ext cx="3931920" cy="777240"/>
          </a:xfrm>
          <a:prstGeom prst="rect">
            <a:avLst/>
          </a:prstGeom>
          <a:noFill/>
          <a:ln/>
        </p:spPr>
        <p:txBody>
          <a:bodyPr wrap="square" rtlCol="0" anchor="ctr"/>
          <a:lstStyle/>
          <a:p>
            <a:pPr algn="just" indent="0" marL="0">
              <a:buNone/>
            </a:pPr>
            <a:r>
              <a:rPr lang="en-US" sz="1050" dirty="0">
                <a:solidFill>
                  <a:srgbClr val="E5E7EB"/>
                </a:solidFill>
                <a:latin typeface="Calibri" pitchFamily="34" charset="0"/>
                <a:ea typeface="Calibri" pitchFamily="34" charset="-122"/>
                <a:cs typeface="Calibri" pitchFamily="34" charset="-120"/>
              </a:rPr>
              <a:t>El circuito de release responde al programa de audio, liberando la compresión de forma más musical según el contenido de la señal, sin artefactos audibles.</a:t>
            </a:r>
            <a:endParaRPr lang="en-US" sz="1050" dirty="0"/>
          </a:p>
        </p:txBody>
      </p:sp>
      <p:sp>
        <p:nvSpPr>
          <p:cNvPr id="16" name="Shape 14"/>
          <p:cNvSpPr/>
          <p:nvPr/>
        </p:nvSpPr>
        <p:spPr>
          <a:xfrm>
            <a:off x="4709160" y="640080"/>
            <a:ext cx="4160520" cy="1298448"/>
          </a:xfrm>
          <a:prstGeom prst="rect">
            <a:avLst/>
          </a:prstGeom>
          <a:solidFill>
            <a:srgbClr val="1C2B3A"/>
          </a:solidFill>
          <a:ln w="12700">
            <a:solidFill>
              <a:srgbClr val="F59E0B"/>
            </a:solidFill>
            <a:prstDash val="solid"/>
          </a:ln>
          <a:effectLst>
            <a:outerShdw sx="100000" sy="100000" kx="0" ky="0" algn="bl" rotWithShape="0" blurRad="101600" dist="38100" dir="8100000">
              <a:srgbClr val="000000">
                <a:alpha val="30000"/>
              </a:srgbClr>
            </a:outerShdw>
          </a:effectLst>
        </p:spPr>
      </p:sp>
      <p:sp>
        <p:nvSpPr>
          <p:cNvPr id="17" name="Shape 15"/>
          <p:cNvSpPr/>
          <p:nvPr/>
        </p:nvSpPr>
        <p:spPr>
          <a:xfrm>
            <a:off x="4709160" y="640080"/>
            <a:ext cx="4160520" cy="347472"/>
          </a:xfrm>
          <a:prstGeom prst="rect">
            <a:avLst/>
          </a:prstGeom>
          <a:solidFill>
            <a:srgbClr val="F59E0B">
              <a:alpha val="80000"/>
            </a:srgbClr>
          </a:solidFill>
          <a:ln w="12700">
            <a:solidFill>
              <a:srgbClr val="F59E0B">
                <a:alpha val="80000"/>
              </a:srgbClr>
            </a:solidFill>
            <a:prstDash val="solid"/>
          </a:ln>
        </p:spPr>
      </p:sp>
      <p:sp>
        <p:nvSpPr>
          <p:cNvPr id="18" name="Text 16"/>
          <p:cNvSpPr/>
          <p:nvPr/>
        </p:nvSpPr>
        <p:spPr>
          <a:xfrm>
            <a:off x="4800600" y="685800"/>
            <a:ext cx="39319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VU Meters</a:t>
            </a:r>
            <a:endParaRPr lang="en-US" sz="1200" dirty="0"/>
          </a:p>
        </p:txBody>
      </p:sp>
      <p:sp>
        <p:nvSpPr>
          <p:cNvPr id="19" name="Text 17"/>
          <p:cNvSpPr/>
          <p:nvPr/>
        </p:nvSpPr>
        <p:spPr>
          <a:xfrm>
            <a:off x="4800600" y="1051560"/>
            <a:ext cx="3931920" cy="777240"/>
          </a:xfrm>
          <a:prstGeom prst="rect">
            <a:avLst/>
          </a:prstGeom>
          <a:noFill/>
          <a:ln/>
        </p:spPr>
        <p:txBody>
          <a:bodyPr wrap="square" rtlCol="0" anchor="ctr"/>
          <a:lstStyle/>
          <a:p>
            <a:pPr algn="just" indent="0" marL="0">
              <a:buNone/>
            </a:pPr>
            <a:r>
              <a:rPr lang="en-US" sz="1050" dirty="0">
                <a:solidFill>
                  <a:srgbClr val="E5E7EB"/>
                </a:solidFill>
                <a:latin typeface="Calibri" pitchFamily="34" charset="0"/>
                <a:ea typeface="Calibri" pitchFamily="34" charset="-122"/>
                <a:cs typeface="Calibri" pitchFamily="34" charset="-120"/>
              </a:rPr>
              <a:t>Los VU meters analógicos muestran tanto la ganancia de reducción (GR) como el nivel de salida. La lectura de VU refleja la percepción auditiva del nivel mejor que los medidores PPM digitales.</a:t>
            </a:r>
            <a:endParaRPr lang="en-US" sz="1050" dirty="0"/>
          </a:p>
        </p:txBody>
      </p:sp>
      <p:sp>
        <p:nvSpPr>
          <p:cNvPr id="20" name="Shape 18"/>
          <p:cNvSpPr/>
          <p:nvPr/>
        </p:nvSpPr>
        <p:spPr>
          <a:xfrm>
            <a:off x="4709160" y="2084832"/>
            <a:ext cx="4160520" cy="1298448"/>
          </a:xfrm>
          <a:prstGeom prst="rect">
            <a:avLst/>
          </a:prstGeom>
          <a:solidFill>
            <a:srgbClr val="1C2B3A"/>
          </a:solidFill>
          <a:ln w="12700">
            <a:solidFill>
              <a:srgbClr val="F59E0B"/>
            </a:solidFill>
            <a:prstDash val="solid"/>
          </a:ln>
          <a:effectLst>
            <a:outerShdw sx="100000" sy="100000" kx="0" ky="0" algn="bl" rotWithShape="0" blurRad="101600" dist="38100" dir="8100000">
              <a:srgbClr val="000000">
                <a:alpha val="30000"/>
              </a:srgbClr>
            </a:outerShdw>
          </a:effectLst>
        </p:spPr>
      </p:sp>
      <p:sp>
        <p:nvSpPr>
          <p:cNvPr id="21" name="Shape 19"/>
          <p:cNvSpPr/>
          <p:nvPr/>
        </p:nvSpPr>
        <p:spPr>
          <a:xfrm>
            <a:off x="4709160" y="2084832"/>
            <a:ext cx="4160520" cy="347472"/>
          </a:xfrm>
          <a:prstGeom prst="rect">
            <a:avLst/>
          </a:prstGeom>
          <a:solidFill>
            <a:srgbClr val="F59E0B">
              <a:alpha val="80000"/>
            </a:srgbClr>
          </a:solidFill>
          <a:ln w="12700">
            <a:solidFill>
              <a:srgbClr val="F59E0B">
                <a:alpha val="80000"/>
              </a:srgbClr>
            </a:solidFill>
            <a:prstDash val="solid"/>
          </a:ln>
        </p:spPr>
      </p:sp>
      <p:sp>
        <p:nvSpPr>
          <p:cNvPr id="22" name="Text 20"/>
          <p:cNvSpPr/>
          <p:nvPr/>
        </p:nvSpPr>
        <p:spPr>
          <a:xfrm>
            <a:off x="4800600" y="2130552"/>
            <a:ext cx="39319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Threshold (Umbral)</a:t>
            </a:r>
            <a:endParaRPr lang="en-US" sz="1200" dirty="0"/>
          </a:p>
        </p:txBody>
      </p:sp>
      <p:sp>
        <p:nvSpPr>
          <p:cNvPr id="23" name="Text 21"/>
          <p:cNvSpPr/>
          <p:nvPr/>
        </p:nvSpPr>
        <p:spPr>
          <a:xfrm>
            <a:off x="4800600" y="2496312"/>
            <a:ext cx="3931920" cy="777240"/>
          </a:xfrm>
          <a:prstGeom prst="rect">
            <a:avLst/>
          </a:prstGeom>
          <a:noFill/>
          <a:ln/>
        </p:spPr>
        <p:txBody>
          <a:bodyPr wrap="square" rtlCol="0" anchor="ctr"/>
          <a:lstStyle/>
          <a:p>
            <a:pPr algn="just" indent="0" marL="0">
              <a:buNone/>
            </a:pPr>
            <a:r>
              <a:rPr lang="en-US" sz="1050" dirty="0">
                <a:solidFill>
                  <a:srgbClr val="E5E7EB"/>
                </a:solidFill>
                <a:latin typeface="Calibri" pitchFamily="34" charset="0"/>
                <a:ea typeface="Calibri" pitchFamily="34" charset="-122"/>
                <a:cs typeface="Calibri" pitchFamily="34" charset="-120"/>
              </a:rPr>
              <a:t>Controla el nivel a partir del cual comienza la compresión. Al bajar el threshold con ratios bajos se logra compresión pegajosa y musical; con ratios altos, control dinámico agresivo.</a:t>
            </a:r>
            <a:endParaRPr lang="en-US" sz="1050" dirty="0"/>
          </a:p>
        </p:txBody>
      </p:sp>
      <p:sp>
        <p:nvSpPr>
          <p:cNvPr id="24" name="Shape 22"/>
          <p:cNvSpPr/>
          <p:nvPr/>
        </p:nvSpPr>
        <p:spPr>
          <a:xfrm>
            <a:off x="4709160" y="3529584"/>
            <a:ext cx="4160520" cy="1298448"/>
          </a:xfrm>
          <a:prstGeom prst="rect">
            <a:avLst/>
          </a:prstGeom>
          <a:solidFill>
            <a:srgbClr val="1C2B3A"/>
          </a:solidFill>
          <a:ln w="12700">
            <a:solidFill>
              <a:srgbClr val="F59E0B"/>
            </a:solidFill>
            <a:prstDash val="solid"/>
          </a:ln>
          <a:effectLst>
            <a:outerShdw sx="100000" sy="100000" kx="0" ky="0" algn="bl" rotWithShape="0" blurRad="101600" dist="38100" dir="8100000">
              <a:srgbClr val="000000">
                <a:alpha val="30000"/>
              </a:srgbClr>
            </a:outerShdw>
          </a:effectLst>
        </p:spPr>
      </p:sp>
      <p:sp>
        <p:nvSpPr>
          <p:cNvPr id="25" name="Shape 23"/>
          <p:cNvSpPr/>
          <p:nvPr/>
        </p:nvSpPr>
        <p:spPr>
          <a:xfrm>
            <a:off x="4709160" y="3529584"/>
            <a:ext cx="4160520" cy="347472"/>
          </a:xfrm>
          <a:prstGeom prst="rect">
            <a:avLst/>
          </a:prstGeom>
          <a:solidFill>
            <a:srgbClr val="F59E0B">
              <a:alpha val="80000"/>
            </a:srgbClr>
          </a:solidFill>
          <a:ln w="12700">
            <a:solidFill>
              <a:srgbClr val="F59E0B">
                <a:alpha val="80000"/>
              </a:srgbClr>
            </a:solidFill>
            <a:prstDash val="solid"/>
          </a:ln>
        </p:spPr>
      </p:sp>
      <p:sp>
        <p:nvSpPr>
          <p:cNvPr id="26" name="Text 24"/>
          <p:cNvSpPr/>
          <p:nvPr/>
        </p:nvSpPr>
        <p:spPr>
          <a:xfrm>
            <a:off x="4800600" y="3575304"/>
            <a:ext cx="393192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Pegada y Cohesión de mezcla</a:t>
            </a:r>
            <a:endParaRPr lang="en-US" sz="1200" dirty="0"/>
          </a:p>
        </p:txBody>
      </p:sp>
      <p:sp>
        <p:nvSpPr>
          <p:cNvPr id="27" name="Text 25"/>
          <p:cNvSpPr/>
          <p:nvPr/>
        </p:nvSpPr>
        <p:spPr>
          <a:xfrm>
            <a:off x="4800600" y="3941064"/>
            <a:ext cx="3931920" cy="777240"/>
          </a:xfrm>
          <a:prstGeom prst="rect">
            <a:avLst/>
          </a:prstGeom>
          <a:noFill/>
          <a:ln/>
        </p:spPr>
        <p:txBody>
          <a:bodyPr wrap="square" rtlCol="0" anchor="ctr"/>
          <a:lstStyle/>
          <a:p>
            <a:pPr algn="just" indent="0" marL="0">
              <a:buNone/>
            </a:pPr>
            <a:r>
              <a:rPr lang="en-US" sz="1050" dirty="0">
                <a:solidFill>
                  <a:srgbClr val="E5E7EB"/>
                </a:solidFill>
                <a:latin typeface="Calibri" pitchFamily="34" charset="0"/>
                <a:ea typeface="Calibri" pitchFamily="34" charset="-122"/>
                <a:cs typeface="Calibri" pitchFamily="34" charset="-120"/>
              </a:rPr>
              <a:t>Al pasarlo por el bus principal (Stereo Bus), el 2264ALBB aporta 'glue': hace que los elementos de la mezcla suenen más cohesionados y con peso sonoro, característico de las grandes producciones.</a:t>
            </a:r>
            <a:endParaRPr lang="en-US" sz="1050" dirty="0"/>
          </a:p>
        </p:txBody>
      </p:sp>
      <p:sp>
        <p:nvSpPr>
          <p:cNvPr id="28" name="Shape 26"/>
          <p:cNvSpPr/>
          <p:nvPr/>
        </p:nvSpPr>
        <p:spPr>
          <a:xfrm>
            <a:off x="320040" y="4709160"/>
            <a:ext cx="8503920" cy="320040"/>
          </a:xfrm>
          <a:prstGeom prst="rect">
            <a:avLst/>
          </a:prstGeom>
          <a:solidFill>
            <a:srgbClr val="1F2937"/>
          </a:solidFill>
          <a:ln w="12700">
            <a:solidFill>
              <a:srgbClr val="F59E0B"/>
            </a:solidFill>
            <a:prstDash val="solid"/>
          </a:ln>
        </p:spPr>
      </p:sp>
      <p:sp>
        <p:nvSpPr>
          <p:cNvPr id="29" name="Text 27"/>
          <p:cNvSpPr/>
          <p:nvPr/>
        </p:nvSpPr>
        <p:spPr>
          <a:xfrm>
            <a:off x="411480" y="4754880"/>
            <a:ext cx="8321040" cy="256032"/>
          </a:xfrm>
          <a:prstGeom prst="rect">
            <a:avLst/>
          </a:prstGeom>
          <a:noFill/>
          <a:ln/>
        </p:spPr>
        <p:txBody>
          <a:bodyPr wrap="square"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  Uso típico: Batería (snare, overhead), bajo eléctrico, voces, bus de mezcla, masterización con carácter analógico.</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4B8A6"/>
          </a:solidFill>
          <a:ln w="12700">
            <a:solidFill>
              <a:srgbClr val="14B8A6"/>
            </a:solidFill>
            <a:prstDash val="solid"/>
          </a:ln>
        </p:spPr>
      </p:sp>
      <p:sp>
        <p:nvSpPr>
          <p:cNvPr id="3" name="Text 1"/>
          <p:cNvSpPr/>
          <p:nvPr/>
        </p:nvSpPr>
        <p:spPr>
          <a:xfrm>
            <a:off x="274320" y="73152"/>
            <a:ext cx="8229600" cy="365760"/>
          </a:xfrm>
          <a:prstGeom prst="rect">
            <a:avLst/>
          </a:prstGeom>
          <a:noFill/>
          <a:ln/>
        </p:spPr>
        <p:txBody>
          <a:bodyPr wrap="square"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04  ·  COMPARATIVA — Los 3 Procesadores</a:t>
            </a:r>
            <a:endParaRPr lang="en-US" sz="1600" dirty="0"/>
          </a:p>
        </p:txBody>
      </p:sp>
      <p:sp>
        <p:nvSpPr>
          <p:cNvPr id="4" name="Shape 2"/>
          <p:cNvSpPr/>
          <p:nvPr/>
        </p:nvSpPr>
        <p:spPr>
          <a:xfrm>
            <a:off x="228600" y="594360"/>
            <a:ext cx="2377440" cy="384048"/>
          </a:xfrm>
          <a:prstGeom prst="rect">
            <a:avLst/>
          </a:prstGeom>
          <a:solidFill>
            <a:srgbClr val="1F2937"/>
          </a:solidFill>
          <a:ln w="12700">
            <a:solidFill>
              <a:srgbClr val="1F2937"/>
            </a:solidFill>
            <a:prstDash val="solid"/>
          </a:ln>
        </p:spPr>
      </p:sp>
      <p:sp>
        <p:nvSpPr>
          <p:cNvPr id="5" name="Text 3"/>
          <p:cNvSpPr/>
          <p:nvPr/>
        </p:nvSpPr>
        <p:spPr>
          <a:xfrm>
            <a:off x="228600" y="594360"/>
            <a:ext cx="237744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Característica</a:t>
            </a:r>
            <a:endParaRPr lang="en-US" sz="1150" dirty="0"/>
          </a:p>
        </p:txBody>
      </p:sp>
      <p:sp>
        <p:nvSpPr>
          <p:cNvPr id="6" name="Shape 4"/>
          <p:cNvSpPr/>
          <p:nvPr/>
        </p:nvSpPr>
        <p:spPr>
          <a:xfrm>
            <a:off x="2642616" y="594360"/>
            <a:ext cx="2194560" cy="384048"/>
          </a:xfrm>
          <a:prstGeom prst="rect">
            <a:avLst/>
          </a:prstGeom>
          <a:solidFill>
            <a:srgbClr val="E84040"/>
          </a:solidFill>
          <a:ln w="12700">
            <a:solidFill>
              <a:srgbClr val="E84040"/>
            </a:solidFill>
            <a:prstDash val="solid"/>
          </a:ln>
        </p:spPr>
      </p:sp>
      <p:sp>
        <p:nvSpPr>
          <p:cNvPr id="7" name="Text 5"/>
          <p:cNvSpPr/>
          <p:nvPr/>
        </p:nvSpPr>
        <p:spPr>
          <a:xfrm>
            <a:off x="2642616" y="594360"/>
            <a:ext cx="219456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Distressor</a:t>
            </a:r>
            <a:endParaRPr lang="en-US" sz="1150" dirty="0"/>
          </a:p>
        </p:txBody>
      </p:sp>
      <p:sp>
        <p:nvSpPr>
          <p:cNvPr id="8" name="Shape 6"/>
          <p:cNvSpPr/>
          <p:nvPr/>
        </p:nvSpPr>
        <p:spPr>
          <a:xfrm>
            <a:off x="4873752" y="594360"/>
            <a:ext cx="2194560" cy="384048"/>
          </a:xfrm>
          <a:prstGeom prst="rect">
            <a:avLst/>
          </a:prstGeom>
          <a:solidFill>
            <a:srgbClr val="2DD4BF"/>
          </a:solidFill>
          <a:ln w="12700">
            <a:solidFill>
              <a:srgbClr val="2DD4BF"/>
            </a:solidFill>
            <a:prstDash val="solid"/>
          </a:ln>
        </p:spPr>
      </p:sp>
      <p:sp>
        <p:nvSpPr>
          <p:cNvPr id="9" name="Text 7"/>
          <p:cNvSpPr/>
          <p:nvPr/>
        </p:nvSpPr>
        <p:spPr>
          <a:xfrm>
            <a:off x="4873752" y="594360"/>
            <a:ext cx="2194560" cy="384048"/>
          </a:xfrm>
          <a:prstGeom prst="rect">
            <a:avLst/>
          </a:prstGeom>
          <a:noFill/>
          <a:ln/>
        </p:spPr>
        <p:txBody>
          <a:bodyPr wrap="square" rtlCol="0" anchor="ctr"/>
          <a:lstStyle/>
          <a:p>
            <a:pPr algn="ctr" indent="0" marL="0">
              <a:buNone/>
            </a:pPr>
            <a:r>
              <a:rPr lang="en-US" sz="1150" b="1" dirty="0">
                <a:solidFill>
                  <a:srgbClr val="0D0D0D"/>
                </a:solidFill>
                <a:latin typeface="Calibri" pitchFamily="34" charset="0"/>
                <a:ea typeface="Calibri" pitchFamily="34" charset="-122"/>
                <a:cs typeface="Calibri" pitchFamily="34" charset="-120"/>
              </a:rPr>
              <a:t>Grace m801</a:t>
            </a:r>
            <a:endParaRPr lang="en-US" sz="1150" dirty="0"/>
          </a:p>
        </p:txBody>
      </p:sp>
      <p:sp>
        <p:nvSpPr>
          <p:cNvPr id="10" name="Shape 8"/>
          <p:cNvSpPr/>
          <p:nvPr/>
        </p:nvSpPr>
        <p:spPr>
          <a:xfrm>
            <a:off x="7104888" y="594360"/>
            <a:ext cx="2194560" cy="384048"/>
          </a:xfrm>
          <a:prstGeom prst="rect">
            <a:avLst/>
          </a:prstGeom>
          <a:solidFill>
            <a:srgbClr val="F59E0B"/>
          </a:solidFill>
          <a:ln w="12700">
            <a:solidFill>
              <a:srgbClr val="F59E0B"/>
            </a:solidFill>
            <a:prstDash val="solid"/>
          </a:ln>
        </p:spPr>
      </p:sp>
      <p:sp>
        <p:nvSpPr>
          <p:cNvPr id="11" name="Text 9"/>
          <p:cNvSpPr/>
          <p:nvPr/>
        </p:nvSpPr>
        <p:spPr>
          <a:xfrm>
            <a:off x="7104888" y="594360"/>
            <a:ext cx="2194560" cy="384048"/>
          </a:xfrm>
          <a:prstGeom prst="rect">
            <a:avLst/>
          </a:prstGeom>
          <a:noFill/>
          <a:ln/>
        </p:spPr>
        <p:txBody>
          <a:bodyPr wrap="square" rtlCol="0" anchor="ctr"/>
          <a:lstStyle/>
          <a:p>
            <a:pPr algn="ctr" indent="0" marL="0">
              <a:buNone/>
            </a:pPr>
            <a:r>
              <a:rPr lang="en-US" sz="1150" b="1" dirty="0">
                <a:solidFill>
                  <a:srgbClr val="0D0D0D"/>
                </a:solidFill>
                <a:latin typeface="Calibri" pitchFamily="34" charset="0"/>
                <a:ea typeface="Calibri" pitchFamily="34" charset="-122"/>
                <a:cs typeface="Calibri" pitchFamily="34" charset="-120"/>
              </a:rPr>
              <a:t>Neve 2264ALBB</a:t>
            </a:r>
            <a:endParaRPr lang="en-US" sz="1150" dirty="0"/>
          </a:p>
        </p:txBody>
      </p:sp>
      <p:sp>
        <p:nvSpPr>
          <p:cNvPr id="12" name="Shape 10"/>
          <p:cNvSpPr/>
          <p:nvPr/>
        </p:nvSpPr>
        <p:spPr>
          <a:xfrm>
            <a:off x="228600" y="1033272"/>
            <a:ext cx="2377440" cy="438912"/>
          </a:xfrm>
          <a:prstGeom prst="rect">
            <a:avLst/>
          </a:prstGeom>
          <a:solidFill>
            <a:srgbClr val="1C2B3A"/>
          </a:solidFill>
          <a:ln w="6350">
            <a:solidFill>
              <a:srgbClr val="14B8A6"/>
            </a:solidFill>
            <a:prstDash val="solid"/>
          </a:ln>
        </p:spPr>
      </p:sp>
      <p:sp>
        <p:nvSpPr>
          <p:cNvPr id="13" name="Text 11"/>
          <p:cNvSpPr/>
          <p:nvPr/>
        </p:nvSpPr>
        <p:spPr>
          <a:xfrm>
            <a:off x="228600" y="1033272"/>
            <a:ext cx="2377440" cy="438912"/>
          </a:xfrm>
          <a:prstGeom prst="rect">
            <a:avLst/>
          </a:prstGeom>
          <a:noFill/>
          <a:ln/>
        </p:spPr>
        <p:txBody>
          <a:bodyPr wrap="square" lIns="50800" tIns="50800" rIns="50800" bIns="50800" rtlCol="0" anchor="ctr"/>
          <a:lstStyle/>
          <a:p>
            <a:pPr algn="ctr" indent="0" marL="0">
              <a:buNone/>
            </a:pPr>
            <a:r>
              <a:rPr lang="en-US" sz="1000" b="1" dirty="0">
                <a:solidFill>
                  <a:srgbClr val="9CA3AF"/>
                </a:solidFill>
                <a:latin typeface="Calibri" pitchFamily="34" charset="0"/>
                <a:ea typeface="Calibri" pitchFamily="34" charset="-122"/>
                <a:cs typeface="Calibri" pitchFamily="34" charset="-120"/>
              </a:rPr>
              <a:t>Tipo de dispositivo</a:t>
            </a:r>
            <a:endParaRPr lang="en-US" sz="1000" dirty="0"/>
          </a:p>
        </p:txBody>
      </p:sp>
      <p:sp>
        <p:nvSpPr>
          <p:cNvPr id="14" name="Shape 12"/>
          <p:cNvSpPr/>
          <p:nvPr/>
        </p:nvSpPr>
        <p:spPr>
          <a:xfrm>
            <a:off x="2642616" y="1033272"/>
            <a:ext cx="2194560" cy="438912"/>
          </a:xfrm>
          <a:prstGeom prst="rect">
            <a:avLst/>
          </a:prstGeom>
          <a:solidFill>
            <a:srgbClr val="1C2B3A"/>
          </a:solidFill>
          <a:ln w="6350">
            <a:solidFill>
              <a:srgbClr val="E84040"/>
            </a:solidFill>
            <a:prstDash val="solid"/>
          </a:ln>
        </p:spPr>
      </p:sp>
      <p:sp>
        <p:nvSpPr>
          <p:cNvPr id="15" name="Text 13"/>
          <p:cNvSpPr/>
          <p:nvPr/>
        </p:nvSpPr>
        <p:spPr>
          <a:xfrm>
            <a:off x="2642616" y="1033272"/>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Compresor multi-estilo</a:t>
            </a:r>
            <a:endParaRPr lang="en-US" sz="1000" dirty="0"/>
          </a:p>
        </p:txBody>
      </p:sp>
      <p:sp>
        <p:nvSpPr>
          <p:cNvPr id="16" name="Shape 14"/>
          <p:cNvSpPr/>
          <p:nvPr/>
        </p:nvSpPr>
        <p:spPr>
          <a:xfrm>
            <a:off x="4873752" y="1033272"/>
            <a:ext cx="2194560" cy="438912"/>
          </a:xfrm>
          <a:prstGeom prst="rect">
            <a:avLst/>
          </a:prstGeom>
          <a:solidFill>
            <a:srgbClr val="1C2B3A"/>
          </a:solidFill>
          <a:ln w="6350">
            <a:solidFill>
              <a:srgbClr val="2DD4BF"/>
            </a:solidFill>
            <a:prstDash val="solid"/>
          </a:ln>
        </p:spPr>
      </p:sp>
      <p:sp>
        <p:nvSpPr>
          <p:cNvPr id="17" name="Text 15"/>
          <p:cNvSpPr/>
          <p:nvPr/>
        </p:nvSpPr>
        <p:spPr>
          <a:xfrm>
            <a:off x="4873752" y="1033272"/>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Preamplificador mic</a:t>
            </a:r>
            <a:endParaRPr lang="en-US" sz="1000" dirty="0"/>
          </a:p>
        </p:txBody>
      </p:sp>
      <p:sp>
        <p:nvSpPr>
          <p:cNvPr id="18" name="Shape 16"/>
          <p:cNvSpPr/>
          <p:nvPr/>
        </p:nvSpPr>
        <p:spPr>
          <a:xfrm>
            <a:off x="7104888" y="1033272"/>
            <a:ext cx="2194560" cy="438912"/>
          </a:xfrm>
          <a:prstGeom prst="rect">
            <a:avLst/>
          </a:prstGeom>
          <a:solidFill>
            <a:srgbClr val="1C2B3A"/>
          </a:solidFill>
          <a:ln w="6350">
            <a:solidFill>
              <a:srgbClr val="F59E0B"/>
            </a:solidFill>
            <a:prstDash val="solid"/>
          </a:ln>
        </p:spPr>
      </p:sp>
      <p:sp>
        <p:nvSpPr>
          <p:cNvPr id="19" name="Text 17"/>
          <p:cNvSpPr/>
          <p:nvPr/>
        </p:nvSpPr>
        <p:spPr>
          <a:xfrm>
            <a:off x="7104888" y="1033272"/>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Compresor/Limitador</a:t>
            </a:r>
            <a:endParaRPr lang="en-US" sz="1000" dirty="0"/>
          </a:p>
        </p:txBody>
      </p:sp>
      <p:sp>
        <p:nvSpPr>
          <p:cNvPr id="20" name="Shape 18"/>
          <p:cNvSpPr/>
          <p:nvPr/>
        </p:nvSpPr>
        <p:spPr>
          <a:xfrm>
            <a:off x="228600" y="1527048"/>
            <a:ext cx="2377440" cy="438912"/>
          </a:xfrm>
          <a:prstGeom prst="rect">
            <a:avLst/>
          </a:prstGeom>
          <a:solidFill>
            <a:srgbClr val="1F2937"/>
          </a:solidFill>
          <a:ln w="6350">
            <a:solidFill>
              <a:srgbClr val="14B8A6"/>
            </a:solidFill>
            <a:prstDash val="solid"/>
          </a:ln>
        </p:spPr>
      </p:sp>
      <p:sp>
        <p:nvSpPr>
          <p:cNvPr id="21" name="Text 19"/>
          <p:cNvSpPr/>
          <p:nvPr/>
        </p:nvSpPr>
        <p:spPr>
          <a:xfrm>
            <a:off x="228600" y="1527048"/>
            <a:ext cx="2377440" cy="438912"/>
          </a:xfrm>
          <a:prstGeom prst="rect">
            <a:avLst/>
          </a:prstGeom>
          <a:noFill/>
          <a:ln/>
        </p:spPr>
        <p:txBody>
          <a:bodyPr wrap="square" lIns="50800" tIns="50800" rIns="50800" bIns="50800" rtlCol="0" anchor="ctr"/>
          <a:lstStyle/>
          <a:p>
            <a:pPr algn="ctr" indent="0" marL="0">
              <a:buNone/>
            </a:pPr>
            <a:r>
              <a:rPr lang="en-US" sz="1000" b="1" dirty="0">
                <a:solidFill>
                  <a:srgbClr val="9CA3AF"/>
                </a:solidFill>
                <a:latin typeface="Calibri" pitchFamily="34" charset="0"/>
                <a:ea typeface="Calibri" pitchFamily="34" charset="-122"/>
                <a:cs typeface="Calibri" pitchFamily="34" charset="-120"/>
              </a:rPr>
              <a:t>Función principal</a:t>
            </a:r>
            <a:endParaRPr lang="en-US" sz="1000" dirty="0"/>
          </a:p>
        </p:txBody>
      </p:sp>
      <p:sp>
        <p:nvSpPr>
          <p:cNvPr id="22" name="Shape 20"/>
          <p:cNvSpPr/>
          <p:nvPr/>
        </p:nvSpPr>
        <p:spPr>
          <a:xfrm>
            <a:off x="2642616" y="1527048"/>
            <a:ext cx="2194560" cy="438912"/>
          </a:xfrm>
          <a:prstGeom prst="rect">
            <a:avLst/>
          </a:prstGeom>
          <a:solidFill>
            <a:srgbClr val="1F2937"/>
          </a:solidFill>
          <a:ln w="6350">
            <a:solidFill>
              <a:srgbClr val="E84040"/>
            </a:solidFill>
            <a:prstDash val="solid"/>
          </a:ln>
        </p:spPr>
      </p:sp>
      <p:sp>
        <p:nvSpPr>
          <p:cNvPr id="23" name="Text 21"/>
          <p:cNvSpPr/>
          <p:nvPr/>
        </p:nvSpPr>
        <p:spPr>
          <a:xfrm>
            <a:off x="2642616" y="1527048"/>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Controlar dinámica</a:t>
            </a:r>
            <a:endParaRPr lang="en-US" sz="1000" dirty="0"/>
          </a:p>
        </p:txBody>
      </p:sp>
      <p:sp>
        <p:nvSpPr>
          <p:cNvPr id="24" name="Shape 22"/>
          <p:cNvSpPr/>
          <p:nvPr/>
        </p:nvSpPr>
        <p:spPr>
          <a:xfrm>
            <a:off x="4873752" y="1527048"/>
            <a:ext cx="2194560" cy="438912"/>
          </a:xfrm>
          <a:prstGeom prst="rect">
            <a:avLst/>
          </a:prstGeom>
          <a:solidFill>
            <a:srgbClr val="1F2937"/>
          </a:solidFill>
          <a:ln w="6350">
            <a:solidFill>
              <a:srgbClr val="2DD4BF"/>
            </a:solidFill>
            <a:prstDash val="solid"/>
          </a:ln>
        </p:spPr>
      </p:sp>
      <p:sp>
        <p:nvSpPr>
          <p:cNvPr id="25" name="Text 23"/>
          <p:cNvSpPr/>
          <p:nvPr/>
        </p:nvSpPr>
        <p:spPr>
          <a:xfrm>
            <a:off x="4873752" y="1527048"/>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Amplificar señal</a:t>
            </a:r>
            <a:endParaRPr lang="en-US" sz="1000" dirty="0"/>
          </a:p>
        </p:txBody>
      </p:sp>
      <p:sp>
        <p:nvSpPr>
          <p:cNvPr id="26" name="Shape 24"/>
          <p:cNvSpPr/>
          <p:nvPr/>
        </p:nvSpPr>
        <p:spPr>
          <a:xfrm>
            <a:off x="7104888" y="1527048"/>
            <a:ext cx="2194560" cy="438912"/>
          </a:xfrm>
          <a:prstGeom prst="rect">
            <a:avLst/>
          </a:prstGeom>
          <a:solidFill>
            <a:srgbClr val="1F2937"/>
          </a:solidFill>
          <a:ln w="6350">
            <a:solidFill>
              <a:srgbClr val="F59E0B"/>
            </a:solidFill>
            <a:prstDash val="solid"/>
          </a:ln>
        </p:spPr>
      </p:sp>
      <p:sp>
        <p:nvSpPr>
          <p:cNvPr id="27" name="Text 25"/>
          <p:cNvSpPr/>
          <p:nvPr/>
        </p:nvSpPr>
        <p:spPr>
          <a:xfrm>
            <a:off x="7104888" y="1527048"/>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Controlar dinámica</a:t>
            </a:r>
            <a:endParaRPr lang="en-US" sz="1000" dirty="0"/>
          </a:p>
        </p:txBody>
      </p:sp>
      <p:sp>
        <p:nvSpPr>
          <p:cNvPr id="28" name="Shape 26"/>
          <p:cNvSpPr/>
          <p:nvPr/>
        </p:nvSpPr>
        <p:spPr>
          <a:xfrm>
            <a:off x="228600" y="2020824"/>
            <a:ext cx="2377440" cy="438912"/>
          </a:xfrm>
          <a:prstGeom prst="rect">
            <a:avLst/>
          </a:prstGeom>
          <a:solidFill>
            <a:srgbClr val="1C2B3A"/>
          </a:solidFill>
          <a:ln w="6350">
            <a:solidFill>
              <a:srgbClr val="14B8A6"/>
            </a:solidFill>
            <a:prstDash val="solid"/>
          </a:ln>
        </p:spPr>
      </p:sp>
      <p:sp>
        <p:nvSpPr>
          <p:cNvPr id="29" name="Text 27"/>
          <p:cNvSpPr/>
          <p:nvPr/>
        </p:nvSpPr>
        <p:spPr>
          <a:xfrm>
            <a:off x="228600" y="2020824"/>
            <a:ext cx="2377440" cy="438912"/>
          </a:xfrm>
          <a:prstGeom prst="rect">
            <a:avLst/>
          </a:prstGeom>
          <a:noFill/>
          <a:ln/>
        </p:spPr>
        <p:txBody>
          <a:bodyPr wrap="square" lIns="50800" tIns="50800" rIns="50800" bIns="50800" rtlCol="0" anchor="ctr"/>
          <a:lstStyle/>
          <a:p>
            <a:pPr algn="ctr" indent="0" marL="0">
              <a:buNone/>
            </a:pPr>
            <a:r>
              <a:rPr lang="en-US" sz="1000" b="1" dirty="0">
                <a:solidFill>
                  <a:srgbClr val="9CA3AF"/>
                </a:solidFill>
                <a:latin typeface="Calibri" pitchFamily="34" charset="0"/>
                <a:ea typeface="Calibri" pitchFamily="34" charset="-122"/>
                <a:cs typeface="Calibri" pitchFamily="34" charset="-120"/>
              </a:rPr>
              <a:t>Color sonoro</a:t>
            </a:r>
            <a:endParaRPr lang="en-US" sz="1000" dirty="0"/>
          </a:p>
        </p:txBody>
      </p:sp>
      <p:sp>
        <p:nvSpPr>
          <p:cNvPr id="30" name="Shape 28"/>
          <p:cNvSpPr/>
          <p:nvPr/>
        </p:nvSpPr>
        <p:spPr>
          <a:xfrm>
            <a:off x="2642616" y="2020824"/>
            <a:ext cx="2194560" cy="438912"/>
          </a:xfrm>
          <a:prstGeom prst="rect">
            <a:avLst/>
          </a:prstGeom>
          <a:solidFill>
            <a:srgbClr val="1C2B3A"/>
          </a:solidFill>
          <a:ln w="6350">
            <a:solidFill>
              <a:srgbClr val="E84040"/>
            </a:solidFill>
            <a:prstDash val="solid"/>
          </a:ln>
        </p:spPr>
      </p:sp>
      <p:sp>
        <p:nvSpPr>
          <p:cNvPr id="31" name="Text 29"/>
          <p:cNvSpPr/>
          <p:nvPr/>
        </p:nvSpPr>
        <p:spPr>
          <a:xfrm>
            <a:off x="2642616" y="2020824"/>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Neutral a muy coloreado</a:t>
            </a:r>
            <a:endParaRPr lang="en-US" sz="1000" dirty="0"/>
          </a:p>
        </p:txBody>
      </p:sp>
      <p:sp>
        <p:nvSpPr>
          <p:cNvPr id="32" name="Shape 30"/>
          <p:cNvSpPr/>
          <p:nvPr/>
        </p:nvSpPr>
        <p:spPr>
          <a:xfrm>
            <a:off x="4873752" y="2020824"/>
            <a:ext cx="2194560" cy="438912"/>
          </a:xfrm>
          <a:prstGeom prst="rect">
            <a:avLst/>
          </a:prstGeom>
          <a:solidFill>
            <a:srgbClr val="1C2B3A"/>
          </a:solidFill>
          <a:ln w="6350">
            <a:solidFill>
              <a:srgbClr val="2DD4BF"/>
            </a:solidFill>
            <a:prstDash val="solid"/>
          </a:ln>
        </p:spPr>
      </p:sp>
      <p:sp>
        <p:nvSpPr>
          <p:cNvPr id="33" name="Text 31"/>
          <p:cNvSpPr/>
          <p:nvPr/>
        </p:nvSpPr>
        <p:spPr>
          <a:xfrm>
            <a:off x="4873752" y="2020824"/>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Ultra transparente</a:t>
            </a:r>
            <a:endParaRPr lang="en-US" sz="1000" dirty="0"/>
          </a:p>
        </p:txBody>
      </p:sp>
      <p:sp>
        <p:nvSpPr>
          <p:cNvPr id="34" name="Shape 32"/>
          <p:cNvSpPr/>
          <p:nvPr/>
        </p:nvSpPr>
        <p:spPr>
          <a:xfrm>
            <a:off x="7104888" y="2020824"/>
            <a:ext cx="2194560" cy="438912"/>
          </a:xfrm>
          <a:prstGeom prst="rect">
            <a:avLst/>
          </a:prstGeom>
          <a:solidFill>
            <a:srgbClr val="1C2B3A"/>
          </a:solidFill>
          <a:ln w="6350">
            <a:solidFill>
              <a:srgbClr val="F59E0B"/>
            </a:solidFill>
            <a:prstDash val="solid"/>
          </a:ln>
        </p:spPr>
      </p:sp>
      <p:sp>
        <p:nvSpPr>
          <p:cNvPr id="35" name="Text 33"/>
          <p:cNvSpPr/>
          <p:nvPr/>
        </p:nvSpPr>
        <p:spPr>
          <a:xfrm>
            <a:off x="7104888" y="2020824"/>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Calidez analógica fuerte</a:t>
            </a:r>
            <a:endParaRPr lang="en-US" sz="1000" dirty="0"/>
          </a:p>
        </p:txBody>
      </p:sp>
      <p:sp>
        <p:nvSpPr>
          <p:cNvPr id="36" name="Shape 34"/>
          <p:cNvSpPr/>
          <p:nvPr/>
        </p:nvSpPr>
        <p:spPr>
          <a:xfrm>
            <a:off x="228600" y="2514600"/>
            <a:ext cx="2377440" cy="438912"/>
          </a:xfrm>
          <a:prstGeom prst="rect">
            <a:avLst/>
          </a:prstGeom>
          <a:solidFill>
            <a:srgbClr val="1F2937"/>
          </a:solidFill>
          <a:ln w="6350">
            <a:solidFill>
              <a:srgbClr val="14B8A6"/>
            </a:solidFill>
            <a:prstDash val="solid"/>
          </a:ln>
        </p:spPr>
      </p:sp>
      <p:sp>
        <p:nvSpPr>
          <p:cNvPr id="37" name="Text 35"/>
          <p:cNvSpPr/>
          <p:nvPr/>
        </p:nvSpPr>
        <p:spPr>
          <a:xfrm>
            <a:off x="228600" y="2514600"/>
            <a:ext cx="2377440" cy="438912"/>
          </a:xfrm>
          <a:prstGeom prst="rect">
            <a:avLst/>
          </a:prstGeom>
          <a:noFill/>
          <a:ln/>
        </p:spPr>
        <p:txBody>
          <a:bodyPr wrap="square" lIns="50800" tIns="50800" rIns="50800" bIns="50800" rtlCol="0" anchor="ctr"/>
          <a:lstStyle/>
          <a:p>
            <a:pPr algn="ctr" indent="0" marL="0">
              <a:buNone/>
            </a:pPr>
            <a:r>
              <a:rPr lang="en-US" sz="1000" b="1" dirty="0">
                <a:solidFill>
                  <a:srgbClr val="9CA3AF"/>
                </a:solidFill>
                <a:latin typeface="Calibri" pitchFamily="34" charset="0"/>
                <a:ea typeface="Calibri" pitchFamily="34" charset="-122"/>
                <a:cs typeface="Calibri" pitchFamily="34" charset="-120"/>
              </a:rPr>
              <a:t>Transformadores</a:t>
            </a:r>
            <a:endParaRPr lang="en-US" sz="1000" dirty="0"/>
          </a:p>
        </p:txBody>
      </p:sp>
      <p:sp>
        <p:nvSpPr>
          <p:cNvPr id="38" name="Shape 36"/>
          <p:cNvSpPr/>
          <p:nvPr/>
        </p:nvSpPr>
        <p:spPr>
          <a:xfrm>
            <a:off x="2642616" y="2514600"/>
            <a:ext cx="2194560" cy="438912"/>
          </a:xfrm>
          <a:prstGeom prst="rect">
            <a:avLst/>
          </a:prstGeom>
          <a:solidFill>
            <a:srgbClr val="1F2937"/>
          </a:solidFill>
          <a:ln w="6350">
            <a:solidFill>
              <a:srgbClr val="E84040"/>
            </a:solidFill>
            <a:prstDash val="solid"/>
          </a:ln>
        </p:spPr>
      </p:sp>
      <p:sp>
        <p:nvSpPr>
          <p:cNvPr id="39" name="Text 37"/>
          <p:cNvSpPr/>
          <p:nvPr/>
        </p:nvSpPr>
        <p:spPr>
          <a:xfrm>
            <a:off x="2642616" y="2514600"/>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No</a:t>
            </a:r>
            <a:endParaRPr lang="en-US" sz="1000" dirty="0"/>
          </a:p>
        </p:txBody>
      </p:sp>
      <p:sp>
        <p:nvSpPr>
          <p:cNvPr id="40" name="Shape 38"/>
          <p:cNvSpPr/>
          <p:nvPr/>
        </p:nvSpPr>
        <p:spPr>
          <a:xfrm>
            <a:off x="4873752" y="2514600"/>
            <a:ext cx="2194560" cy="438912"/>
          </a:xfrm>
          <a:prstGeom prst="rect">
            <a:avLst/>
          </a:prstGeom>
          <a:solidFill>
            <a:srgbClr val="1F2937"/>
          </a:solidFill>
          <a:ln w="6350">
            <a:solidFill>
              <a:srgbClr val="2DD4BF"/>
            </a:solidFill>
            <a:prstDash val="solid"/>
          </a:ln>
        </p:spPr>
      </p:sp>
      <p:sp>
        <p:nvSpPr>
          <p:cNvPr id="41" name="Text 39"/>
          <p:cNvSpPr/>
          <p:nvPr/>
        </p:nvSpPr>
        <p:spPr>
          <a:xfrm>
            <a:off x="4873752" y="2514600"/>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No</a:t>
            </a:r>
            <a:endParaRPr lang="en-US" sz="1000" dirty="0"/>
          </a:p>
        </p:txBody>
      </p:sp>
      <p:sp>
        <p:nvSpPr>
          <p:cNvPr id="42" name="Shape 40"/>
          <p:cNvSpPr/>
          <p:nvPr/>
        </p:nvSpPr>
        <p:spPr>
          <a:xfrm>
            <a:off x="7104888" y="2514600"/>
            <a:ext cx="2194560" cy="438912"/>
          </a:xfrm>
          <a:prstGeom prst="rect">
            <a:avLst/>
          </a:prstGeom>
          <a:solidFill>
            <a:srgbClr val="1F2937"/>
          </a:solidFill>
          <a:ln w="6350">
            <a:solidFill>
              <a:srgbClr val="F59E0B"/>
            </a:solidFill>
            <a:prstDash val="solid"/>
          </a:ln>
        </p:spPr>
      </p:sp>
      <p:sp>
        <p:nvSpPr>
          <p:cNvPr id="43" name="Text 41"/>
          <p:cNvSpPr/>
          <p:nvPr/>
        </p:nvSpPr>
        <p:spPr>
          <a:xfrm>
            <a:off x="7104888" y="2514600"/>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Sí (entrada + salida)</a:t>
            </a:r>
            <a:endParaRPr lang="en-US" sz="1000" dirty="0"/>
          </a:p>
        </p:txBody>
      </p:sp>
      <p:sp>
        <p:nvSpPr>
          <p:cNvPr id="44" name="Shape 42"/>
          <p:cNvSpPr/>
          <p:nvPr/>
        </p:nvSpPr>
        <p:spPr>
          <a:xfrm>
            <a:off x="228600" y="3008376"/>
            <a:ext cx="2377440" cy="438912"/>
          </a:xfrm>
          <a:prstGeom prst="rect">
            <a:avLst/>
          </a:prstGeom>
          <a:solidFill>
            <a:srgbClr val="1C2B3A"/>
          </a:solidFill>
          <a:ln w="6350">
            <a:solidFill>
              <a:srgbClr val="14B8A6"/>
            </a:solidFill>
            <a:prstDash val="solid"/>
          </a:ln>
        </p:spPr>
      </p:sp>
      <p:sp>
        <p:nvSpPr>
          <p:cNvPr id="45" name="Text 43"/>
          <p:cNvSpPr/>
          <p:nvPr/>
        </p:nvSpPr>
        <p:spPr>
          <a:xfrm>
            <a:off x="228600" y="3008376"/>
            <a:ext cx="2377440" cy="438912"/>
          </a:xfrm>
          <a:prstGeom prst="rect">
            <a:avLst/>
          </a:prstGeom>
          <a:noFill/>
          <a:ln/>
        </p:spPr>
        <p:txBody>
          <a:bodyPr wrap="square" lIns="50800" tIns="50800" rIns="50800" bIns="50800" rtlCol="0" anchor="ctr"/>
          <a:lstStyle/>
          <a:p>
            <a:pPr algn="ctr" indent="0" marL="0">
              <a:buNone/>
            </a:pPr>
            <a:r>
              <a:rPr lang="en-US" sz="1000" b="1" dirty="0">
                <a:solidFill>
                  <a:srgbClr val="9CA3AF"/>
                </a:solidFill>
                <a:latin typeface="Calibri" pitchFamily="34" charset="0"/>
                <a:ea typeface="Calibri" pitchFamily="34" charset="-122"/>
                <a:cs typeface="Calibri" pitchFamily="34" charset="-120"/>
              </a:rPr>
              <a:t>Circuito</a:t>
            </a:r>
            <a:endParaRPr lang="en-US" sz="1000" dirty="0"/>
          </a:p>
        </p:txBody>
      </p:sp>
      <p:sp>
        <p:nvSpPr>
          <p:cNvPr id="46" name="Shape 44"/>
          <p:cNvSpPr/>
          <p:nvPr/>
        </p:nvSpPr>
        <p:spPr>
          <a:xfrm>
            <a:off x="2642616" y="3008376"/>
            <a:ext cx="2194560" cy="438912"/>
          </a:xfrm>
          <a:prstGeom prst="rect">
            <a:avLst/>
          </a:prstGeom>
          <a:solidFill>
            <a:srgbClr val="1C2B3A"/>
          </a:solidFill>
          <a:ln w="6350">
            <a:solidFill>
              <a:srgbClr val="E84040"/>
            </a:solidFill>
            <a:prstDash val="solid"/>
          </a:ln>
        </p:spPr>
      </p:sp>
      <p:sp>
        <p:nvSpPr>
          <p:cNvPr id="47" name="Text 45"/>
          <p:cNvSpPr/>
          <p:nvPr/>
        </p:nvSpPr>
        <p:spPr>
          <a:xfrm>
            <a:off x="2642616" y="3008376"/>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Analógico VCA híbrido</a:t>
            </a:r>
            <a:endParaRPr lang="en-US" sz="1000" dirty="0"/>
          </a:p>
        </p:txBody>
      </p:sp>
      <p:sp>
        <p:nvSpPr>
          <p:cNvPr id="48" name="Shape 46"/>
          <p:cNvSpPr/>
          <p:nvPr/>
        </p:nvSpPr>
        <p:spPr>
          <a:xfrm>
            <a:off x="4873752" y="3008376"/>
            <a:ext cx="2194560" cy="438912"/>
          </a:xfrm>
          <a:prstGeom prst="rect">
            <a:avLst/>
          </a:prstGeom>
          <a:solidFill>
            <a:srgbClr val="1C2B3A"/>
          </a:solidFill>
          <a:ln w="6350">
            <a:solidFill>
              <a:srgbClr val="2DD4BF"/>
            </a:solidFill>
            <a:prstDash val="solid"/>
          </a:ln>
        </p:spPr>
      </p:sp>
      <p:sp>
        <p:nvSpPr>
          <p:cNvPr id="49" name="Text 47"/>
          <p:cNvSpPr/>
          <p:nvPr/>
        </p:nvSpPr>
        <p:spPr>
          <a:xfrm>
            <a:off x="4873752" y="3008376"/>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Clase A discreto</a:t>
            </a:r>
            <a:endParaRPr lang="en-US" sz="1000" dirty="0"/>
          </a:p>
        </p:txBody>
      </p:sp>
      <p:sp>
        <p:nvSpPr>
          <p:cNvPr id="50" name="Shape 48"/>
          <p:cNvSpPr/>
          <p:nvPr/>
        </p:nvSpPr>
        <p:spPr>
          <a:xfrm>
            <a:off x="7104888" y="3008376"/>
            <a:ext cx="2194560" cy="438912"/>
          </a:xfrm>
          <a:prstGeom prst="rect">
            <a:avLst/>
          </a:prstGeom>
          <a:solidFill>
            <a:srgbClr val="1C2B3A"/>
          </a:solidFill>
          <a:ln w="6350">
            <a:solidFill>
              <a:srgbClr val="F59E0B"/>
            </a:solidFill>
            <a:prstDash val="solid"/>
          </a:ln>
        </p:spPr>
      </p:sp>
      <p:sp>
        <p:nvSpPr>
          <p:cNvPr id="51" name="Text 49"/>
          <p:cNvSpPr/>
          <p:nvPr/>
        </p:nvSpPr>
        <p:spPr>
          <a:xfrm>
            <a:off x="7104888" y="3008376"/>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VCA Clase A/B Neve</a:t>
            </a:r>
            <a:endParaRPr lang="en-US" sz="1000" dirty="0"/>
          </a:p>
        </p:txBody>
      </p:sp>
      <p:sp>
        <p:nvSpPr>
          <p:cNvPr id="52" name="Shape 50"/>
          <p:cNvSpPr/>
          <p:nvPr/>
        </p:nvSpPr>
        <p:spPr>
          <a:xfrm>
            <a:off x="228600" y="3502152"/>
            <a:ext cx="2377440" cy="438912"/>
          </a:xfrm>
          <a:prstGeom prst="rect">
            <a:avLst/>
          </a:prstGeom>
          <a:solidFill>
            <a:srgbClr val="1F2937"/>
          </a:solidFill>
          <a:ln w="6350">
            <a:solidFill>
              <a:srgbClr val="14B8A6"/>
            </a:solidFill>
            <a:prstDash val="solid"/>
          </a:ln>
        </p:spPr>
      </p:sp>
      <p:sp>
        <p:nvSpPr>
          <p:cNvPr id="53" name="Text 51"/>
          <p:cNvSpPr/>
          <p:nvPr/>
        </p:nvSpPr>
        <p:spPr>
          <a:xfrm>
            <a:off x="228600" y="3502152"/>
            <a:ext cx="2377440" cy="438912"/>
          </a:xfrm>
          <a:prstGeom prst="rect">
            <a:avLst/>
          </a:prstGeom>
          <a:noFill/>
          <a:ln/>
        </p:spPr>
        <p:txBody>
          <a:bodyPr wrap="square" lIns="50800" tIns="50800" rIns="50800" bIns="50800" rtlCol="0" anchor="ctr"/>
          <a:lstStyle/>
          <a:p>
            <a:pPr algn="ctr" indent="0" marL="0">
              <a:buNone/>
            </a:pPr>
            <a:r>
              <a:rPr lang="en-US" sz="1000" b="1" dirty="0">
                <a:solidFill>
                  <a:srgbClr val="9CA3AF"/>
                </a:solidFill>
                <a:latin typeface="Calibri" pitchFamily="34" charset="0"/>
                <a:ea typeface="Calibri" pitchFamily="34" charset="-122"/>
                <a:cs typeface="Calibri" pitchFamily="34" charset="-120"/>
              </a:rPr>
              <a:t>Distorsión armónica</a:t>
            </a:r>
            <a:endParaRPr lang="en-US" sz="1000" dirty="0"/>
          </a:p>
        </p:txBody>
      </p:sp>
      <p:sp>
        <p:nvSpPr>
          <p:cNvPr id="54" name="Shape 52"/>
          <p:cNvSpPr/>
          <p:nvPr/>
        </p:nvSpPr>
        <p:spPr>
          <a:xfrm>
            <a:off x="2642616" y="3502152"/>
            <a:ext cx="2194560" cy="438912"/>
          </a:xfrm>
          <a:prstGeom prst="rect">
            <a:avLst/>
          </a:prstGeom>
          <a:solidFill>
            <a:srgbClr val="1F2937"/>
          </a:solidFill>
          <a:ln w="6350">
            <a:solidFill>
              <a:srgbClr val="E84040"/>
            </a:solidFill>
            <a:prstDash val="solid"/>
          </a:ln>
        </p:spPr>
      </p:sp>
      <p:sp>
        <p:nvSpPr>
          <p:cNvPr id="55" name="Text 53"/>
          <p:cNvSpPr/>
          <p:nvPr/>
        </p:nvSpPr>
        <p:spPr>
          <a:xfrm>
            <a:off x="2642616" y="3502152"/>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Seleccionable (2°/3°)</a:t>
            </a:r>
            <a:endParaRPr lang="en-US" sz="1000" dirty="0"/>
          </a:p>
        </p:txBody>
      </p:sp>
      <p:sp>
        <p:nvSpPr>
          <p:cNvPr id="56" name="Shape 54"/>
          <p:cNvSpPr/>
          <p:nvPr/>
        </p:nvSpPr>
        <p:spPr>
          <a:xfrm>
            <a:off x="4873752" y="3502152"/>
            <a:ext cx="2194560" cy="438912"/>
          </a:xfrm>
          <a:prstGeom prst="rect">
            <a:avLst/>
          </a:prstGeom>
          <a:solidFill>
            <a:srgbClr val="1F2937"/>
          </a:solidFill>
          <a:ln w="6350">
            <a:solidFill>
              <a:srgbClr val="2DD4BF"/>
            </a:solidFill>
            <a:prstDash val="solid"/>
          </a:ln>
        </p:spPr>
      </p:sp>
      <p:sp>
        <p:nvSpPr>
          <p:cNvPr id="57" name="Text 55"/>
          <p:cNvSpPr/>
          <p:nvPr/>
        </p:nvSpPr>
        <p:spPr>
          <a:xfrm>
            <a:off x="4873752" y="3502152"/>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Mínima (&lt;0.001%)</a:t>
            </a:r>
            <a:endParaRPr lang="en-US" sz="1000" dirty="0"/>
          </a:p>
        </p:txBody>
      </p:sp>
      <p:sp>
        <p:nvSpPr>
          <p:cNvPr id="58" name="Shape 56"/>
          <p:cNvSpPr/>
          <p:nvPr/>
        </p:nvSpPr>
        <p:spPr>
          <a:xfrm>
            <a:off x="7104888" y="3502152"/>
            <a:ext cx="2194560" cy="438912"/>
          </a:xfrm>
          <a:prstGeom prst="rect">
            <a:avLst/>
          </a:prstGeom>
          <a:solidFill>
            <a:srgbClr val="1F2937"/>
          </a:solidFill>
          <a:ln w="6350">
            <a:solidFill>
              <a:srgbClr val="F59E0B"/>
            </a:solidFill>
            <a:prstDash val="solid"/>
          </a:ln>
        </p:spPr>
      </p:sp>
      <p:sp>
        <p:nvSpPr>
          <p:cNvPr id="59" name="Text 57"/>
          <p:cNvSpPr/>
          <p:nvPr/>
        </p:nvSpPr>
        <p:spPr>
          <a:xfrm>
            <a:off x="7104888" y="3502152"/>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Natural por transformador</a:t>
            </a:r>
            <a:endParaRPr lang="en-US" sz="1000" dirty="0"/>
          </a:p>
        </p:txBody>
      </p:sp>
      <p:sp>
        <p:nvSpPr>
          <p:cNvPr id="60" name="Shape 58"/>
          <p:cNvSpPr/>
          <p:nvPr/>
        </p:nvSpPr>
        <p:spPr>
          <a:xfrm>
            <a:off x="228600" y="3995928"/>
            <a:ext cx="2377440" cy="438912"/>
          </a:xfrm>
          <a:prstGeom prst="rect">
            <a:avLst/>
          </a:prstGeom>
          <a:solidFill>
            <a:srgbClr val="1C2B3A"/>
          </a:solidFill>
          <a:ln w="6350">
            <a:solidFill>
              <a:srgbClr val="14B8A6"/>
            </a:solidFill>
            <a:prstDash val="solid"/>
          </a:ln>
        </p:spPr>
      </p:sp>
      <p:sp>
        <p:nvSpPr>
          <p:cNvPr id="61" name="Text 59"/>
          <p:cNvSpPr/>
          <p:nvPr/>
        </p:nvSpPr>
        <p:spPr>
          <a:xfrm>
            <a:off x="228600" y="3995928"/>
            <a:ext cx="2377440" cy="438912"/>
          </a:xfrm>
          <a:prstGeom prst="rect">
            <a:avLst/>
          </a:prstGeom>
          <a:noFill/>
          <a:ln/>
        </p:spPr>
        <p:txBody>
          <a:bodyPr wrap="square" lIns="50800" tIns="50800" rIns="50800" bIns="50800" rtlCol="0" anchor="ctr"/>
          <a:lstStyle/>
          <a:p>
            <a:pPr algn="ctr" indent="0" marL="0">
              <a:buNone/>
            </a:pPr>
            <a:r>
              <a:rPr lang="en-US" sz="1000" b="1" dirty="0">
                <a:solidFill>
                  <a:srgbClr val="9CA3AF"/>
                </a:solidFill>
                <a:latin typeface="Calibri" pitchFamily="34" charset="0"/>
                <a:ea typeface="Calibri" pitchFamily="34" charset="-122"/>
                <a:cs typeface="Calibri" pitchFamily="34" charset="-120"/>
              </a:rPr>
              <a:t>Uso principal</a:t>
            </a:r>
            <a:endParaRPr lang="en-US" sz="1000" dirty="0"/>
          </a:p>
        </p:txBody>
      </p:sp>
      <p:sp>
        <p:nvSpPr>
          <p:cNvPr id="62" name="Shape 60"/>
          <p:cNvSpPr/>
          <p:nvPr/>
        </p:nvSpPr>
        <p:spPr>
          <a:xfrm>
            <a:off x="2642616" y="3995928"/>
            <a:ext cx="2194560" cy="438912"/>
          </a:xfrm>
          <a:prstGeom prst="rect">
            <a:avLst/>
          </a:prstGeom>
          <a:solidFill>
            <a:srgbClr val="1C2B3A"/>
          </a:solidFill>
          <a:ln w="6350">
            <a:solidFill>
              <a:srgbClr val="E84040"/>
            </a:solidFill>
            <a:prstDash val="solid"/>
          </a:ln>
        </p:spPr>
      </p:sp>
      <p:sp>
        <p:nvSpPr>
          <p:cNvPr id="63" name="Text 61"/>
          <p:cNvSpPr/>
          <p:nvPr/>
        </p:nvSpPr>
        <p:spPr>
          <a:xfrm>
            <a:off x="2642616" y="3995928"/>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Voces, drums, bus</a:t>
            </a:r>
            <a:endParaRPr lang="en-US" sz="1000" dirty="0"/>
          </a:p>
        </p:txBody>
      </p:sp>
      <p:sp>
        <p:nvSpPr>
          <p:cNvPr id="64" name="Shape 62"/>
          <p:cNvSpPr/>
          <p:nvPr/>
        </p:nvSpPr>
        <p:spPr>
          <a:xfrm>
            <a:off x="4873752" y="3995928"/>
            <a:ext cx="2194560" cy="438912"/>
          </a:xfrm>
          <a:prstGeom prst="rect">
            <a:avLst/>
          </a:prstGeom>
          <a:solidFill>
            <a:srgbClr val="1C2B3A"/>
          </a:solidFill>
          <a:ln w="6350">
            <a:solidFill>
              <a:srgbClr val="2DD4BF"/>
            </a:solidFill>
            <a:prstDash val="solid"/>
          </a:ln>
        </p:spPr>
      </p:sp>
      <p:sp>
        <p:nvSpPr>
          <p:cNvPr id="65" name="Text 63"/>
          <p:cNvSpPr/>
          <p:nvPr/>
        </p:nvSpPr>
        <p:spPr>
          <a:xfrm>
            <a:off x="4873752" y="3995928"/>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Grabación acústica</a:t>
            </a:r>
            <a:endParaRPr lang="en-US" sz="1000" dirty="0"/>
          </a:p>
        </p:txBody>
      </p:sp>
      <p:sp>
        <p:nvSpPr>
          <p:cNvPr id="66" name="Shape 64"/>
          <p:cNvSpPr/>
          <p:nvPr/>
        </p:nvSpPr>
        <p:spPr>
          <a:xfrm>
            <a:off x="7104888" y="3995928"/>
            <a:ext cx="2194560" cy="438912"/>
          </a:xfrm>
          <a:prstGeom prst="rect">
            <a:avLst/>
          </a:prstGeom>
          <a:solidFill>
            <a:srgbClr val="1C2B3A"/>
          </a:solidFill>
          <a:ln w="6350">
            <a:solidFill>
              <a:srgbClr val="F59E0B"/>
            </a:solidFill>
            <a:prstDash val="solid"/>
          </a:ln>
        </p:spPr>
      </p:sp>
      <p:sp>
        <p:nvSpPr>
          <p:cNvPr id="67" name="Text 65"/>
          <p:cNvSpPr/>
          <p:nvPr/>
        </p:nvSpPr>
        <p:spPr>
          <a:xfrm>
            <a:off x="7104888" y="3995928"/>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Drums, bus, mastering</a:t>
            </a:r>
            <a:endParaRPr lang="en-US" sz="1000" dirty="0"/>
          </a:p>
        </p:txBody>
      </p:sp>
      <p:sp>
        <p:nvSpPr>
          <p:cNvPr id="68" name="Shape 66"/>
          <p:cNvSpPr/>
          <p:nvPr/>
        </p:nvSpPr>
        <p:spPr>
          <a:xfrm>
            <a:off x="228600" y="4489704"/>
            <a:ext cx="2377440" cy="438912"/>
          </a:xfrm>
          <a:prstGeom prst="rect">
            <a:avLst/>
          </a:prstGeom>
          <a:solidFill>
            <a:srgbClr val="1F2937"/>
          </a:solidFill>
          <a:ln w="6350">
            <a:solidFill>
              <a:srgbClr val="14B8A6"/>
            </a:solidFill>
            <a:prstDash val="solid"/>
          </a:ln>
        </p:spPr>
      </p:sp>
      <p:sp>
        <p:nvSpPr>
          <p:cNvPr id="69" name="Text 67"/>
          <p:cNvSpPr/>
          <p:nvPr/>
        </p:nvSpPr>
        <p:spPr>
          <a:xfrm>
            <a:off x="228600" y="4489704"/>
            <a:ext cx="2377440" cy="438912"/>
          </a:xfrm>
          <a:prstGeom prst="rect">
            <a:avLst/>
          </a:prstGeom>
          <a:noFill/>
          <a:ln/>
        </p:spPr>
        <p:txBody>
          <a:bodyPr wrap="square" lIns="50800" tIns="50800" rIns="50800" bIns="50800" rtlCol="0" anchor="ctr"/>
          <a:lstStyle/>
          <a:p>
            <a:pPr algn="ctr" indent="0" marL="0">
              <a:buNone/>
            </a:pPr>
            <a:r>
              <a:rPr lang="en-US" sz="1000" b="1" dirty="0">
                <a:solidFill>
                  <a:srgbClr val="9CA3AF"/>
                </a:solidFill>
                <a:latin typeface="Calibri" pitchFamily="34" charset="0"/>
                <a:ea typeface="Calibri" pitchFamily="34" charset="-122"/>
                <a:cs typeface="Calibri" pitchFamily="34" charset="-120"/>
              </a:rPr>
              <a:t>Versatilidad</a:t>
            </a:r>
            <a:endParaRPr lang="en-US" sz="1000" dirty="0"/>
          </a:p>
        </p:txBody>
      </p:sp>
      <p:sp>
        <p:nvSpPr>
          <p:cNvPr id="70" name="Shape 68"/>
          <p:cNvSpPr/>
          <p:nvPr/>
        </p:nvSpPr>
        <p:spPr>
          <a:xfrm>
            <a:off x="2642616" y="4489704"/>
            <a:ext cx="2194560" cy="438912"/>
          </a:xfrm>
          <a:prstGeom prst="rect">
            <a:avLst/>
          </a:prstGeom>
          <a:solidFill>
            <a:srgbClr val="1F2937"/>
          </a:solidFill>
          <a:ln w="6350">
            <a:solidFill>
              <a:srgbClr val="E84040"/>
            </a:solidFill>
            <a:prstDash val="solid"/>
          </a:ln>
        </p:spPr>
      </p:sp>
      <p:sp>
        <p:nvSpPr>
          <p:cNvPr id="71" name="Text 69"/>
          <p:cNvSpPr/>
          <p:nvPr/>
        </p:nvSpPr>
        <p:spPr>
          <a:xfrm>
            <a:off x="2642616" y="4489704"/>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Muy alta</a:t>
            </a:r>
            <a:endParaRPr lang="en-US" sz="1000" dirty="0"/>
          </a:p>
        </p:txBody>
      </p:sp>
      <p:sp>
        <p:nvSpPr>
          <p:cNvPr id="72" name="Shape 70"/>
          <p:cNvSpPr/>
          <p:nvPr/>
        </p:nvSpPr>
        <p:spPr>
          <a:xfrm>
            <a:off x="4873752" y="4489704"/>
            <a:ext cx="2194560" cy="438912"/>
          </a:xfrm>
          <a:prstGeom prst="rect">
            <a:avLst/>
          </a:prstGeom>
          <a:solidFill>
            <a:srgbClr val="1F2937"/>
          </a:solidFill>
          <a:ln w="6350">
            <a:solidFill>
              <a:srgbClr val="2DD4BF"/>
            </a:solidFill>
            <a:prstDash val="solid"/>
          </a:ln>
        </p:spPr>
      </p:sp>
      <p:sp>
        <p:nvSpPr>
          <p:cNvPr id="73" name="Text 71"/>
          <p:cNvSpPr/>
          <p:nvPr/>
        </p:nvSpPr>
        <p:spPr>
          <a:xfrm>
            <a:off x="4873752" y="4489704"/>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Alta (8 canales)</a:t>
            </a:r>
            <a:endParaRPr lang="en-US" sz="1000" dirty="0"/>
          </a:p>
        </p:txBody>
      </p:sp>
      <p:sp>
        <p:nvSpPr>
          <p:cNvPr id="74" name="Shape 72"/>
          <p:cNvSpPr/>
          <p:nvPr/>
        </p:nvSpPr>
        <p:spPr>
          <a:xfrm>
            <a:off x="7104888" y="4489704"/>
            <a:ext cx="2194560" cy="438912"/>
          </a:xfrm>
          <a:prstGeom prst="rect">
            <a:avLst/>
          </a:prstGeom>
          <a:solidFill>
            <a:srgbClr val="1F2937"/>
          </a:solidFill>
          <a:ln w="6350">
            <a:solidFill>
              <a:srgbClr val="F59E0B"/>
            </a:solidFill>
            <a:prstDash val="solid"/>
          </a:ln>
        </p:spPr>
      </p:sp>
      <p:sp>
        <p:nvSpPr>
          <p:cNvPr id="75" name="Text 73"/>
          <p:cNvSpPr/>
          <p:nvPr/>
        </p:nvSpPr>
        <p:spPr>
          <a:xfrm>
            <a:off x="7104888" y="4489704"/>
            <a:ext cx="2194560" cy="438912"/>
          </a:xfrm>
          <a:prstGeom prst="rect">
            <a:avLst/>
          </a:prstGeom>
          <a:noFill/>
          <a:ln/>
        </p:spPr>
        <p:txBody>
          <a:bodyPr wrap="square" lIns="50800" tIns="50800" rIns="50800" bIns="50800" rtlCol="0" anchor="ctr"/>
          <a:lstStyle/>
          <a:p>
            <a:pPr algn="ctr" indent="0" marL="0">
              <a:buNone/>
            </a:pPr>
            <a:r>
              <a:rPr lang="en-US" sz="1000" dirty="0">
                <a:solidFill>
                  <a:srgbClr val="E5E7EB"/>
                </a:solidFill>
                <a:latin typeface="Calibri" pitchFamily="34" charset="0"/>
                <a:ea typeface="Calibri" pitchFamily="34" charset="-122"/>
                <a:cs typeface="Calibri" pitchFamily="34" charset="-120"/>
              </a:rPr>
              <a:t>Media (su sonido define su uso)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w="12700">
            <a:solidFill>
              <a:srgbClr val="F59E0B"/>
            </a:solidFill>
            <a:prstDash val="solid"/>
          </a:ln>
        </p:spPr>
      </p:sp>
      <p:sp>
        <p:nvSpPr>
          <p:cNvPr id="3" name="Shape 1"/>
          <p:cNvSpPr/>
          <p:nvPr/>
        </p:nvSpPr>
        <p:spPr>
          <a:xfrm>
            <a:off x="0" y="5070348"/>
            <a:ext cx="9144000" cy="73152"/>
          </a:xfrm>
          <a:prstGeom prst="rect">
            <a:avLst/>
          </a:prstGeom>
          <a:solidFill>
            <a:srgbClr val="E84040"/>
          </a:solidFill>
          <a:ln w="12700">
            <a:solidFill>
              <a:srgbClr val="E84040"/>
            </a:solidFill>
            <a:prstDash val="solid"/>
          </a:ln>
        </p:spPr>
      </p:sp>
      <p:sp>
        <p:nvSpPr>
          <p:cNvPr id="4" name="Text 2"/>
          <p:cNvSpPr/>
          <p:nvPr/>
        </p:nvSpPr>
        <p:spPr>
          <a:xfrm>
            <a:off x="457200" y="365760"/>
            <a:ext cx="8229600" cy="640080"/>
          </a:xfrm>
          <a:prstGeom prst="rect">
            <a:avLst/>
          </a:prstGeom>
          <a:noFill/>
          <a:ln/>
        </p:spPr>
        <p:txBody>
          <a:bodyPr wrap="square" rtlCol="0" anchor="ctr"/>
          <a:lstStyle/>
          <a:p>
            <a:pPr algn="ctr" indent="0" marL="0">
              <a:buNone/>
            </a:pPr>
            <a:r>
              <a:rPr lang="en-US" sz="3600" b="1" spc="500" kern="0" dirty="0">
                <a:solidFill>
                  <a:srgbClr val="FFFFFF"/>
                </a:solidFill>
                <a:latin typeface="Arial Black" pitchFamily="34" charset="0"/>
                <a:ea typeface="Arial Black" pitchFamily="34" charset="-122"/>
                <a:cs typeface="Arial Black" pitchFamily="34" charset="-120"/>
              </a:rPr>
              <a:t>CONCLUSIÓN</a:t>
            </a:r>
            <a:endParaRPr lang="en-US" sz="3600" dirty="0"/>
          </a:p>
        </p:txBody>
      </p:sp>
      <p:sp>
        <p:nvSpPr>
          <p:cNvPr id="5" name="Shape 3"/>
          <p:cNvSpPr/>
          <p:nvPr/>
        </p:nvSpPr>
        <p:spPr>
          <a:xfrm>
            <a:off x="320040" y="1188720"/>
            <a:ext cx="2697480" cy="3474720"/>
          </a:xfrm>
          <a:prstGeom prst="rect">
            <a:avLst/>
          </a:prstGeom>
          <a:solidFill>
            <a:srgbClr val="1C2B3A"/>
          </a:solidFill>
          <a:ln w="25400">
            <a:solidFill>
              <a:srgbClr val="E84040"/>
            </a:solidFill>
            <a:prstDash val="solid"/>
          </a:ln>
          <a:effectLst>
            <a:outerShdw sx="100000" sy="100000" kx="0" ky="0" algn="bl" rotWithShape="0" blurRad="101600" dist="38100" dir="8100000">
              <a:srgbClr val="000000">
                <a:alpha val="30000"/>
              </a:srgbClr>
            </a:outerShdw>
          </a:effectLst>
        </p:spPr>
      </p:sp>
      <p:sp>
        <p:nvSpPr>
          <p:cNvPr id="6" name="Shape 4"/>
          <p:cNvSpPr/>
          <p:nvPr/>
        </p:nvSpPr>
        <p:spPr>
          <a:xfrm>
            <a:off x="320040" y="1188720"/>
            <a:ext cx="2697480" cy="502920"/>
          </a:xfrm>
          <a:prstGeom prst="rect">
            <a:avLst/>
          </a:prstGeom>
          <a:solidFill>
            <a:srgbClr val="E84040"/>
          </a:solidFill>
          <a:ln w="12700">
            <a:solidFill>
              <a:srgbClr val="E84040"/>
            </a:solidFill>
            <a:prstDash val="solid"/>
          </a:ln>
        </p:spPr>
      </p:sp>
      <p:sp>
        <p:nvSpPr>
          <p:cNvPr id="7" name="Text 5"/>
          <p:cNvSpPr/>
          <p:nvPr/>
        </p:nvSpPr>
        <p:spPr>
          <a:xfrm>
            <a:off x="320040" y="1216152"/>
            <a:ext cx="2697480" cy="274320"/>
          </a:xfrm>
          <a:prstGeom prst="rect">
            <a:avLst/>
          </a:prstGeom>
          <a:noFill/>
          <a:ln/>
        </p:spPr>
        <p:txBody>
          <a:bodyPr wrap="square" rtlCol="0" anchor="ctr"/>
          <a:lstStyle/>
          <a:p>
            <a:pPr algn="ctr" indent="0" marL="0">
              <a:buNone/>
            </a:pPr>
            <a:r>
              <a:rPr lang="en-US" sz="1400" b="1" dirty="0">
                <a:solidFill>
                  <a:srgbClr val="0D0D0D"/>
                </a:solidFill>
                <a:latin typeface="Arial Black" pitchFamily="34" charset="0"/>
                <a:ea typeface="Arial Black" pitchFamily="34" charset="-122"/>
                <a:cs typeface="Arial Black" pitchFamily="34" charset="-120"/>
              </a:rPr>
              <a:t>Distressor</a:t>
            </a:r>
            <a:endParaRPr lang="en-US" sz="1400" dirty="0"/>
          </a:p>
        </p:txBody>
      </p:sp>
      <p:sp>
        <p:nvSpPr>
          <p:cNvPr id="8" name="Text 6"/>
          <p:cNvSpPr/>
          <p:nvPr/>
        </p:nvSpPr>
        <p:spPr>
          <a:xfrm>
            <a:off x="320040" y="1481328"/>
            <a:ext cx="2697480" cy="201168"/>
          </a:xfrm>
          <a:prstGeom prst="rect">
            <a:avLst/>
          </a:prstGeom>
          <a:noFill/>
          <a:ln/>
        </p:spPr>
        <p:txBody>
          <a:bodyPr wrap="square" rtlCol="0" anchor="ctr"/>
          <a:lstStyle/>
          <a:p>
            <a:pPr algn="ctr" indent="0" marL="0">
              <a:buNone/>
            </a:pPr>
            <a:r>
              <a:rPr lang="en-US" sz="1000" i="1" dirty="0">
                <a:solidFill>
                  <a:srgbClr val="0D0D0D"/>
                </a:solidFill>
                <a:latin typeface="Calibri" pitchFamily="34" charset="0"/>
                <a:ea typeface="Calibri" pitchFamily="34" charset="-122"/>
                <a:cs typeface="Calibri" pitchFamily="34" charset="-120"/>
              </a:rPr>
              <a:t>"El camaleón"</a:t>
            </a:r>
            <a:endParaRPr lang="en-US" sz="1000" dirty="0"/>
          </a:p>
        </p:txBody>
      </p:sp>
      <p:sp>
        <p:nvSpPr>
          <p:cNvPr id="9" name="Text 7"/>
          <p:cNvSpPr/>
          <p:nvPr/>
        </p:nvSpPr>
        <p:spPr>
          <a:xfrm>
            <a:off x="411480" y="1874520"/>
            <a:ext cx="2514600" cy="2560320"/>
          </a:xfrm>
          <a:prstGeom prst="rect">
            <a:avLst/>
          </a:prstGeom>
          <a:noFill/>
          <a:ln/>
        </p:spPr>
        <p:txBody>
          <a:bodyPr wrap="square" rtlCol="0" anchor="ctr"/>
          <a:lstStyle/>
          <a:p>
            <a:pPr algn="just" indent="0" marL="0">
              <a:buNone/>
            </a:pPr>
            <a:r>
              <a:rPr lang="en-US" sz="1100" dirty="0">
                <a:solidFill>
                  <a:srgbClr val="E5E7EB"/>
                </a:solidFill>
                <a:latin typeface="Calibri" pitchFamily="34" charset="0"/>
                <a:ea typeface="Calibri" pitchFamily="34" charset="-122"/>
                <a:cs typeface="Calibri" pitchFamily="34" charset="-120"/>
              </a:rPr>
              <a:t>Cuando necesitas versatilidad total: desde compresión suave y transparente hasta saturación extrema. Ideal para cualquier fuente y cualquier estilo musical.</a:t>
            </a:r>
            <a:endParaRPr lang="en-US" sz="1100" dirty="0"/>
          </a:p>
        </p:txBody>
      </p:sp>
      <p:sp>
        <p:nvSpPr>
          <p:cNvPr id="10" name="Shape 8"/>
          <p:cNvSpPr/>
          <p:nvPr/>
        </p:nvSpPr>
        <p:spPr>
          <a:xfrm>
            <a:off x="3227832" y="1188720"/>
            <a:ext cx="2697480" cy="3474720"/>
          </a:xfrm>
          <a:prstGeom prst="rect">
            <a:avLst/>
          </a:prstGeom>
          <a:solidFill>
            <a:srgbClr val="1C2B3A"/>
          </a:solidFill>
          <a:ln w="25400">
            <a:solidFill>
              <a:srgbClr val="2DD4BF"/>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3227832" y="1188720"/>
            <a:ext cx="2697480" cy="502920"/>
          </a:xfrm>
          <a:prstGeom prst="rect">
            <a:avLst/>
          </a:prstGeom>
          <a:solidFill>
            <a:srgbClr val="2DD4BF"/>
          </a:solidFill>
          <a:ln w="12700">
            <a:solidFill>
              <a:srgbClr val="2DD4BF"/>
            </a:solidFill>
            <a:prstDash val="solid"/>
          </a:ln>
        </p:spPr>
      </p:sp>
      <p:sp>
        <p:nvSpPr>
          <p:cNvPr id="12" name="Text 10"/>
          <p:cNvSpPr/>
          <p:nvPr/>
        </p:nvSpPr>
        <p:spPr>
          <a:xfrm>
            <a:off x="3227832" y="1216152"/>
            <a:ext cx="2697480" cy="274320"/>
          </a:xfrm>
          <a:prstGeom prst="rect">
            <a:avLst/>
          </a:prstGeom>
          <a:noFill/>
          <a:ln/>
        </p:spPr>
        <p:txBody>
          <a:bodyPr wrap="square" rtlCol="0" anchor="ctr"/>
          <a:lstStyle/>
          <a:p>
            <a:pPr algn="ctr" indent="0" marL="0">
              <a:buNone/>
            </a:pPr>
            <a:r>
              <a:rPr lang="en-US" sz="1400" b="1" dirty="0">
                <a:solidFill>
                  <a:srgbClr val="0D0D0D"/>
                </a:solidFill>
                <a:latin typeface="Arial Black" pitchFamily="34" charset="0"/>
                <a:ea typeface="Arial Black" pitchFamily="34" charset="-122"/>
                <a:cs typeface="Arial Black" pitchFamily="34" charset="-120"/>
              </a:rPr>
              <a:t>Grace m801</a:t>
            </a:r>
            <a:endParaRPr lang="en-US" sz="1400" dirty="0"/>
          </a:p>
        </p:txBody>
      </p:sp>
      <p:sp>
        <p:nvSpPr>
          <p:cNvPr id="13" name="Text 11"/>
          <p:cNvSpPr/>
          <p:nvPr/>
        </p:nvSpPr>
        <p:spPr>
          <a:xfrm>
            <a:off x="3227832" y="1481328"/>
            <a:ext cx="2697480" cy="201168"/>
          </a:xfrm>
          <a:prstGeom prst="rect">
            <a:avLst/>
          </a:prstGeom>
          <a:noFill/>
          <a:ln/>
        </p:spPr>
        <p:txBody>
          <a:bodyPr wrap="square" rtlCol="0" anchor="ctr"/>
          <a:lstStyle/>
          <a:p>
            <a:pPr algn="ctr" indent="0" marL="0">
              <a:buNone/>
            </a:pPr>
            <a:r>
              <a:rPr lang="en-US" sz="1000" i="1" dirty="0">
                <a:solidFill>
                  <a:srgbClr val="0D0D0D"/>
                </a:solidFill>
                <a:latin typeface="Calibri" pitchFamily="34" charset="0"/>
                <a:ea typeface="Calibri" pitchFamily="34" charset="-122"/>
                <a:cs typeface="Calibri" pitchFamily="34" charset="-120"/>
              </a:rPr>
              <a:t>"El cristal"</a:t>
            </a:r>
            <a:endParaRPr lang="en-US" sz="1000" dirty="0"/>
          </a:p>
        </p:txBody>
      </p:sp>
      <p:sp>
        <p:nvSpPr>
          <p:cNvPr id="14" name="Text 12"/>
          <p:cNvSpPr/>
          <p:nvPr/>
        </p:nvSpPr>
        <p:spPr>
          <a:xfrm>
            <a:off x="3319272" y="1874520"/>
            <a:ext cx="2514600" cy="2560320"/>
          </a:xfrm>
          <a:prstGeom prst="rect">
            <a:avLst/>
          </a:prstGeom>
          <a:noFill/>
          <a:ln/>
        </p:spPr>
        <p:txBody>
          <a:bodyPr wrap="square" rtlCol="0" anchor="ctr"/>
          <a:lstStyle/>
          <a:p>
            <a:pPr algn="just" indent="0" marL="0">
              <a:buNone/>
            </a:pPr>
            <a:r>
              <a:rPr lang="en-US" sz="1100" dirty="0">
                <a:solidFill>
                  <a:srgbClr val="E5E7EB"/>
                </a:solidFill>
                <a:latin typeface="Calibri" pitchFamily="34" charset="0"/>
                <a:ea typeface="Calibri" pitchFamily="34" charset="-122"/>
                <a:cs typeface="Calibri" pitchFamily="34" charset="-120"/>
              </a:rPr>
              <a:t>Cuando la fidelidad es todo. Para grabar la fuente exactamente como suena, sin coloración. Esencial en acústica, clásica y cualquier grabación de referencia.</a:t>
            </a:r>
            <a:endParaRPr lang="en-US" sz="1100" dirty="0"/>
          </a:p>
        </p:txBody>
      </p:sp>
      <p:sp>
        <p:nvSpPr>
          <p:cNvPr id="15" name="Shape 13"/>
          <p:cNvSpPr/>
          <p:nvPr/>
        </p:nvSpPr>
        <p:spPr>
          <a:xfrm>
            <a:off x="6135624" y="1188720"/>
            <a:ext cx="2697480" cy="3474720"/>
          </a:xfrm>
          <a:prstGeom prst="rect">
            <a:avLst/>
          </a:prstGeom>
          <a:solidFill>
            <a:srgbClr val="1C2B3A"/>
          </a:solidFill>
          <a:ln w="25400">
            <a:solidFill>
              <a:srgbClr val="F59E0B"/>
            </a:solidFill>
            <a:prstDash val="solid"/>
          </a:ln>
          <a:effectLst>
            <a:outerShdw sx="100000" sy="100000" kx="0" ky="0" algn="bl" rotWithShape="0" blurRad="101600" dist="38100" dir="8100000">
              <a:srgbClr val="000000">
                <a:alpha val="30000"/>
              </a:srgbClr>
            </a:outerShdw>
          </a:effectLst>
        </p:spPr>
      </p:sp>
      <p:sp>
        <p:nvSpPr>
          <p:cNvPr id="16" name="Shape 14"/>
          <p:cNvSpPr/>
          <p:nvPr/>
        </p:nvSpPr>
        <p:spPr>
          <a:xfrm>
            <a:off x="6135624" y="1188720"/>
            <a:ext cx="2697480" cy="502920"/>
          </a:xfrm>
          <a:prstGeom prst="rect">
            <a:avLst/>
          </a:prstGeom>
          <a:solidFill>
            <a:srgbClr val="F59E0B"/>
          </a:solidFill>
          <a:ln w="12700">
            <a:solidFill>
              <a:srgbClr val="F59E0B"/>
            </a:solidFill>
            <a:prstDash val="solid"/>
          </a:ln>
        </p:spPr>
      </p:sp>
      <p:sp>
        <p:nvSpPr>
          <p:cNvPr id="17" name="Text 15"/>
          <p:cNvSpPr/>
          <p:nvPr/>
        </p:nvSpPr>
        <p:spPr>
          <a:xfrm>
            <a:off x="6135624" y="1216152"/>
            <a:ext cx="2697480" cy="274320"/>
          </a:xfrm>
          <a:prstGeom prst="rect">
            <a:avLst/>
          </a:prstGeom>
          <a:noFill/>
          <a:ln/>
        </p:spPr>
        <p:txBody>
          <a:bodyPr wrap="square" rtlCol="0" anchor="ctr"/>
          <a:lstStyle/>
          <a:p>
            <a:pPr algn="ctr" indent="0" marL="0">
              <a:buNone/>
            </a:pPr>
            <a:r>
              <a:rPr lang="en-US" sz="1400" b="1" dirty="0">
                <a:solidFill>
                  <a:srgbClr val="0D0D0D"/>
                </a:solidFill>
                <a:latin typeface="Arial Black" pitchFamily="34" charset="0"/>
                <a:ea typeface="Arial Black" pitchFamily="34" charset="-122"/>
                <a:cs typeface="Arial Black" pitchFamily="34" charset="-120"/>
              </a:rPr>
              <a:t>Neve 2264ALBB</a:t>
            </a:r>
            <a:endParaRPr lang="en-US" sz="1400" dirty="0"/>
          </a:p>
        </p:txBody>
      </p:sp>
      <p:sp>
        <p:nvSpPr>
          <p:cNvPr id="18" name="Text 16"/>
          <p:cNvSpPr/>
          <p:nvPr/>
        </p:nvSpPr>
        <p:spPr>
          <a:xfrm>
            <a:off x="6135624" y="1481328"/>
            <a:ext cx="2697480" cy="201168"/>
          </a:xfrm>
          <a:prstGeom prst="rect">
            <a:avLst/>
          </a:prstGeom>
          <a:noFill/>
          <a:ln/>
        </p:spPr>
        <p:txBody>
          <a:bodyPr wrap="square" rtlCol="0" anchor="ctr"/>
          <a:lstStyle/>
          <a:p>
            <a:pPr algn="ctr" indent="0" marL="0">
              <a:buNone/>
            </a:pPr>
            <a:r>
              <a:rPr lang="en-US" sz="1000" i="1" dirty="0">
                <a:solidFill>
                  <a:srgbClr val="0D0D0D"/>
                </a:solidFill>
                <a:latin typeface="Calibri" pitchFamily="34" charset="0"/>
                <a:ea typeface="Calibri" pitchFamily="34" charset="-122"/>
                <a:cs typeface="Calibri" pitchFamily="34" charset="-120"/>
              </a:rPr>
              <a:t>"El carácter"</a:t>
            </a:r>
            <a:endParaRPr lang="en-US" sz="1000" dirty="0"/>
          </a:p>
        </p:txBody>
      </p:sp>
      <p:sp>
        <p:nvSpPr>
          <p:cNvPr id="19" name="Text 17"/>
          <p:cNvSpPr/>
          <p:nvPr/>
        </p:nvSpPr>
        <p:spPr>
          <a:xfrm>
            <a:off x="6227064" y="1874520"/>
            <a:ext cx="2514600" cy="2560320"/>
          </a:xfrm>
          <a:prstGeom prst="rect">
            <a:avLst/>
          </a:prstGeom>
          <a:noFill/>
          <a:ln/>
        </p:spPr>
        <p:txBody>
          <a:bodyPr wrap="square" rtlCol="0" anchor="ctr"/>
          <a:lstStyle/>
          <a:p>
            <a:pPr algn="just" indent="0" marL="0">
              <a:buNone/>
            </a:pPr>
            <a:r>
              <a:rPr lang="en-US" sz="1100" dirty="0">
                <a:solidFill>
                  <a:srgbClr val="E5E7EB"/>
                </a:solidFill>
                <a:latin typeface="Calibri" pitchFamily="34" charset="0"/>
                <a:ea typeface="Calibri" pitchFamily="34" charset="-122"/>
                <a:cs typeface="Calibri" pitchFamily="34" charset="-120"/>
              </a:rPr>
              <a:t>Cuando quieres sonido analógico inconfundible. El transformador Neve define una 'huella sonora' que se busca intencionalmente en rock, pop, jazz y masterización.</a:t>
            </a:r>
            <a:endParaRPr lang="en-US" sz="1100" dirty="0"/>
          </a:p>
        </p:txBody>
      </p:sp>
      <p:sp>
        <p:nvSpPr>
          <p:cNvPr id="20" name="Text 18"/>
          <p:cNvSpPr/>
          <p:nvPr/>
        </p:nvSpPr>
        <p:spPr>
          <a:xfrm>
            <a:off x="457200" y="4754880"/>
            <a:ext cx="8229600" cy="274320"/>
          </a:xfrm>
          <a:prstGeom prst="rect">
            <a:avLst/>
          </a:prstGeom>
          <a:noFill/>
          <a:ln/>
        </p:spPr>
        <p:txBody>
          <a:bodyPr wrap="square" rtlCol="0" anchor="ctr"/>
          <a:lstStyle/>
          <a:p>
            <a:pPr algn="ctr" indent="0" marL="0">
              <a:buNone/>
            </a:pPr>
            <a:r>
              <a:rPr lang="en-US" sz="1100" i="1" dirty="0">
                <a:solidFill>
                  <a:srgbClr val="9CA3AF"/>
                </a:solidFill>
                <a:latin typeface="Calibri" pitchFamily="34" charset="0"/>
                <a:ea typeface="Calibri" pitchFamily="34" charset="-122"/>
                <a:cs typeface="Calibri" pitchFamily="34" charset="-120"/>
              </a:rPr>
              <a:t>La elección del procesador correcto define el sonido de tu producción.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Procesadores de Señal: Distressor, Grace m801 y Neve 2264ALBB</dc:title>
  <dc:subject>PptxGenJS Presentation</dc:subject>
  <dc:creator>PptxGenJS</dc:creator>
  <cp:lastModifiedBy>PptxGenJS</cp:lastModifiedBy>
  <cp:revision>1</cp:revision>
  <dcterms:created xsi:type="dcterms:W3CDTF">2026-04-25T04:05:51Z</dcterms:created>
  <dcterms:modified xsi:type="dcterms:W3CDTF">2026-04-25T04:05:51Z</dcterms:modified>
</cp:coreProperties>
</file>